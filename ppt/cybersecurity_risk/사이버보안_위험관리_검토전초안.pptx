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사이버보안 위험관리" id="{b78dd683-99a6-848d-333b-34b5b11fd714}">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섹션은 보안 위협이 환자 안전 위해로 이어지는 경로를 위험관리 체계 안에서 어떻게 다룰지 정리한다. 핵심 과제는 두 가지다. 첫째, 안전 위험과 보안 위험을 함께 평가하는 매트릭스를 설계하는 것이다. 둘째, 의도적 공격의 발생 확률을 산정하기 어려운 상황에서 인증기관(Notified Body, NB)이 수용할 수 있는 위험 허용 논리를 세우는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14971 자체는 보안 위험 평가 방법을 자세히 다루지 않는다. 그래서 AAMI TIR57이 ISO 14971의 구조를 그대로 가져와 보안 위험관리에 적용하는 방법을 제시한다(후속 규격: ANSI/AAMI SW96:2023). MDCG 2019-16 부록 I은 두 프로세스가 서로 결과를 주고받아야 한다는 관계를 보여준다. 유럽 심사에서 TIR57은 정합 규격(harmonised standard)이 아니지만, 최신 기술 수준(state of the art)을 보여주는 근거로 흔히 인용된다.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안전 매트릭스의 확률 축을 공격 가능성 축으로 바꾸는 것이 핵심이다. 우발적 고장은 확률로 평가하지만, 의도적 공격은 확률을 신뢰성 있게 산정하기 어렵다. 그래서 같은 매트릭스 틀을 유지하면서 축만 정성적 공격 가능성으로 바꾼다. 축의 등급 수와 판정 칸은 위험관리 계획서에서 미리 정하고, 평가 후에 바꾸지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확률을 억지로 숫자로 만들면 심사에서 근거를 묻는 질문에 답하기 어렵다. 공격 잠재력 요소는 공격자가 실제로 들여야 하는 시간, 지식, 장비를 기준으로 하므로 재현 가능하고 설명하기 쉽다. 점수가 높을수록 공격에 더 많은 자원이 필요하므로 공격 가능성은 낮아진다. CVSS는 취약점의 기술적 심각도 지표이므로 환자 위해 심각도를 대신하지 못한다. 어떤 체계를 쓰든 점수와 등급 변환 기준을 위험관리 계획서에 고정해 두어야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NB가 가장 먼저 확인하는 것은 기준을 평가 결과에 맞춰 바꾸지 않았는가이다. 그래서 기준을 계획서에 미리 고정하는 것이 출발점이다. 다음으로 확률을 낮게 잡아 위험을 줄였다는 인상을 피하기 위해 최악 가정에서 시작한다. 통제의 효과는 침투 시험 같은 객관적 증거로 보이고, 공격 가능성은 시간이 지나면 변하므로 시판 후 감시 계획으로 논리를 닫는다. EU MDR은 위험을 가능한 한 줄일 것(as far as possible)을 요구하므로(EN ISO 14971:2019+A11:2021 부속서 ZA 참조), 경제성만을 이유로 통제를 생략했다는 인상을 주지 않아야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triangle"/>
          <p:cNvSpPr/>
          <p:nvPr/>
        </p:nvSpPr>
        <p:spPr>
          <a:xfrm flipH="1">
            <a:off x="8778240" y="3566160"/>
            <a:ext cx="3410712" cy="3291840"/>
          </a:xfrm>
          <a:prstGeom prst="rtTriangle">
            <a:avLst/>
          </a:prstGeom>
          <a:solidFill>
            <a:srgbClr val="D9D9D9"/>
          </a:solidFill>
          <a:ln w="12700">
            <a:solidFill>
              <a:srgbClr val="D9D9D9"/>
            </a:solidFill>
            <a:prstDash val="solid"/>
          </a:ln>
        </p:spPr>
      </p:sp>
      <p:sp>
        <p:nvSpPr>
          <p:cNvPr id="3" name="Deco triangle"/>
          <p:cNvSpPr/>
          <p:nvPr/>
        </p:nvSpPr>
        <p:spPr>
          <a:xfrm flipH="1">
            <a:off x="10058400" y="4846320"/>
            <a:ext cx="2130552" cy="2011680"/>
          </a:xfrm>
          <a:prstGeom prst="rtTriangle">
            <a:avLst/>
          </a:prstGeom>
          <a:solidFill>
            <a:srgbClr val="BFBFBF"/>
          </a:solidFill>
          <a:ln w="12700">
            <a:solidFill>
              <a:srgbClr val="BFBFBF"/>
            </a:solidFill>
            <a:prstDash val="solid"/>
          </a:ln>
        </p:spPr>
      </p:sp>
      <p:sp>
        <p:nvSpPr>
          <p:cNvPr id="4" name="Deco triangle"/>
          <p:cNvSpPr/>
          <p:nvPr/>
        </p:nvSpPr>
        <p:spPr>
          <a:xfrm flipV="1">
            <a:off x="0" y="0"/>
            <a:ext cx="2011680" cy="1828800"/>
          </a:xfrm>
          <a:prstGeom prst="rtTriangle">
            <a:avLst/>
          </a:prstGeom>
          <a:solidFill>
            <a:srgbClr val="EDEDED"/>
          </a:solidFill>
          <a:ln w="12700">
            <a:solidFill>
              <a:srgbClr val="EDEDED"/>
            </a:solidFill>
            <a:prstDash val="solid"/>
          </a:ln>
        </p:spPr>
      </p:sp>
      <p:sp>
        <p:nvSpPr>
          <p:cNvPr id="5" name="Text 3"/>
          <p:cNvSpPr txBox="1"/>
          <p:nvPr/>
        </p:nvSpPr>
        <p:spPr>
          <a:xfrm>
            <a:off x="1097280" y="1554480"/>
            <a:ext cx="2743200" cy="1097280"/>
          </a:xfrm>
          <a:prstGeom prst="rect">
            <a:avLst/>
          </a:prstGeom>
          <a:noFill/>
          <a:ln/>
        </p:spPr>
        <p:txBody>
          <a:bodyPr wrap="square" lIns="0" tIns="0" rIns="0" bIns="0" rtlCol="0" anchor="ctr"/>
          <a:lstStyle/>
          <a:p>
            <a:pPr indent="0" marL="0">
              <a:buNone/>
            </a:pPr>
            <a:r>
              <a:rPr lang="en-US" sz="7200" b="1" dirty="0">
                <a:solidFill>
                  <a:srgbClr val="B08600"/>
                </a:solidFill>
              </a:rPr>
              <a:t>01</a:t>
            </a:r>
            <a:endParaRPr lang="en-US" sz="7200" dirty="0"/>
          </a:p>
        </p:txBody>
      </p:sp>
      <p:sp>
        <p:nvSpPr>
          <p:cNvPr id="6" name="Text 4"/>
          <p:cNvSpPr txBox="1"/>
          <p:nvPr/>
        </p:nvSpPr>
        <p:spPr>
          <a:xfrm>
            <a:off x="1097280" y="2697480"/>
            <a:ext cx="9144000" cy="914400"/>
          </a:xfrm>
          <a:prstGeom prst="rect">
            <a:avLst/>
          </a:prstGeom>
          <a:noFill/>
          <a:ln/>
        </p:spPr>
        <p:txBody>
          <a:bodyPr wrap="square" lIns="0" tIns="0" rIns="0" bIns="0" rtlCol="0" anchor="ctr"/>
          <a:lstStyle/>
          <a:p>
            <a:pPr indent="0" marL="0">
              <a:buNone/>
            </a:pPr>
            <a:r>
              <a:rPr lang="en-US" sz="5000" b="1" dirty="0">
                <a:solidFill>
                  <a:srgbClr val="262626"/>
                </a:solidFill>
              </a:rPr>
              <a:t>사이버보안 위험관리</a:t>
            </a:r>
            <a:endParaRPr lang="en-US" sz="5000" dirty="0"/>
          </a:p>
        </p:txBody>
      </p:sp>
      <p:sp>
        <p:nvSpPr>
          <p:cNvPr id="7" name="Shape 5"/>
          <p:cNvSpPr/>
          <p:nvPr/>
        </p:nvSpPr>
        <p:spPr>
          <a:xfrm>
            <a:off x="1097280" y="3749040"/>
            <a:ext cx="5669280" cy="0"/>
          </a:xfrm>
          <a:prstGeom prst="line">
            <a:avLst/>
          </a:prstGeom>
          <a:noFill/>
          <a:ln w="38100">
            <a:solidFill>
              <a:srgbClr val="B08600"/>
            </a:solidFill>
            <a:prstDash val="solid"/>
          </a:ln>
        </p:spPr>
      </p:sp>
      <p:sp>
        <p:nvSpPr>
          <p:cNvPr id="8" name="Text 6"/>
          <p:cNvSpPr txBox="1"/>
          <p:nvPr/>
        </p:nvSpPr>
        <p:spPr>
          <a:xfrm>
            <a:off x="1097280" y="3931920"/>
            <a:ext cx="8229600" cy="548640"/>
          </a:xfrm>
          <a:prstGeom prst="rect">
            <a:avLst/>
          </a:prstGeom>
          <a:noFill/>
          <a:ln/>
        </p:spPr>
        <p:txBody>
          <a:bodyPr wrap="square" lIns="0" tIns="0" rIns="0" bIns="0" rtlCol="0" anchor="ctr"/>
          <a:lstStyle/>
          <a:p>
            <a:pPr indent="0" marL="0">
              <a:buNone/>
            </a:pPr>
            <a:r>
              <a:rPr lang="en-US" sz="2000" dirty="0">
                <a:solidFill>
                  <a:srgbClr val="44546A"/>
                </a:solidFill>
              </a:rPr>
              <a:t>Security Risk Management — Safety와 Security의 통합 평가</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규격 프레임</a:t>
            </a:r>
            <a:endParaRPr lang="en-US" sz="2000" dirty="0"/>
          </a:p>
        </p:txBody>
      </p:sp>
      <p:sp>
        <p:nvSpPr>
          <p:cNvPr id="3" name="Purpose label"/>
          <p:cNvSpPr txBox="1"/>
          <p:nvPr/>
        </p:nvSpPr>
        <p:spPr>
          <a:xfrm>
            <a:off x="457200" y="1188720"/>
            <a:ext cx="1005840" cy="914400"/>
          </a:xfrm>
          <a:prstGeom prst="roundRect">
            <a:avLst>
              <a:gd name="adj" fmla="val 12000"/>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914400"/>
          </a:xfrm>
          <a:prstGeom prst="roundRect">
            <a:avLst>
              <a:gd name="adj" fmla="val 12000"/>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안전 위험관리(safety risk management)와 보안 위험관리(security risk management)를 별도 프로세스로 운영하되, 보안 위험이 위해(harm)로 이어질 수 있으면 안전 위험관리로 넘겨 함께 평가한다.</a:t>
            </a:r>
            <a:endParaRPr lang="en-US" sz="1600" dirty="0"/>
          </a:p>
        </p:txBody>
      </p:sp>
      <p:sp>
        <p:nvSpPr>
          <p:cNvPr id="5" name="Lane header"/>
          <p:cNvSpPr txBox="1"/>
          <p:nvPr/>
        </p:nvSpPr>
        <p:spPr>
          <a:xfrm>
            <a:off x="457200" y="2468880"/>
            <a:ext cx="4389120" cy="566928"/>
          </a:xfrm>
          <a:prstGeom prst="roundRect">
            <a:avLst>
              <a:gd name="adj" fmla="val 16129"/>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보안 위험관리</a:t>
            </a:r>
            <a:endParaRPr lang="en-US" sz="1400" dirty="0"/>
          </a:p>
          <a:p>
            <a:pPr algn="ctr" indent="0" marL="0">
              <a:buNone/>
            </a:pPr>
            <a:r>
              <a:rPr lang="en-US" sz="1400" b="1" dirty="0">
                <a:solidFill>
                  <a:srgbClr val="FFFFFF"/>
                </a:solidFill>
              </a:rPr>
              <a:t>AAMI TIR57:2016/(R)2019</a:t>
            </a:r>
            <a:endParaRPr lang="en-US" sz="1400" dirty="0"/>
          </a:p>
        </p:txBody>
      </p:sp>
      <p:sp>
        <p:nvSpPr>
          <p:cNvPr id="6" name="Lane step"/>
          <p:cNvSpPr txBox="1"/>
          <p:nvPr/>
        </p:nvSpPr>
        <p:spPr>
          <a:xfrm>
            <a:off x="822960" y="3154680"/>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자산(asset) 식별</a:t>
            </a:r>
            <a:endParaRPr lang="en-US" sz="1400" dirty="0"/>
          </a:p>
        </p:txBody>
      </p:sp>
      <p:sp>
        <p:nvSpPr>
          <p:cNvPr id="7" name="Shape 5"/>
          <p:cNvSpPr/>
          <p:nvPr/>
        </p:nvSpPr>
        <p:spPr>
          <a:xfrm>
            <a:off x="2651760" y="3685032"/>
            <a:ext cx="0" cy="182880"/>
          </a:xfrm>
          <a:prstGeom prst="line">
            <a:avLst/>
          </a:prstGeom>
          <a:noFill/>
          <a:ln w="25400">
            <a:solidFill>
              <a:srgbClr val="44546A"/>
            </a:solidFill>
            <a:prstDash val="solid"/>
            <a:tailEnd type="triangle"/>
          </a:ln>
        </p:spPr>
      </p:sp>
      <p:sp>
        <p:nvSpPr>
          <p:cNvPr id="8" name="Lane step"/>
          <p:cNvSpPr txBox="1"/>
          <p:nvPr/>
        </p:nvSpPr>
        <p:spPr>
          <a:xfrm>
            <a:off x="822960" y="3867912"/>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위협(threat)·취약점(vulnerability) 분석</a:t>
            </a:r>
            <a:endParaRPr lang="en-US" sz="1400" dirty="0"/>
          </a:p>
        </p:txBody>
      </p:sp>
      <p:sp>
        <p:nvSpPr>
          <p:cNvPr id="9" name="Shape 7"/>
          <p:cNvSpPr/>
          <p:nvPr/>
        </p:nvSpPr>
        <p:spPr>
          <a:xfrm>
            <a:off x="2651760" y="4398264"/>
            <a:ext cx="0" cy="182880"/>
          </a:xfrm>
          <a:prstGeom prst="line">
            <a:avLst/>
          </a:prstGeom>
          <a:noFill/>
          <a:ln w="25400">
            <a:solidFill>
              <a:srgbClr val="44546A"/>
            </a:solidFill>
            <a:prstDash val="solid"/>
            <a:tailEnd type="triangle"/>
          </a:ln>
        </p:spPr>
      </p:sp>
      <p:sp>
        <p:nvSpPr>
          <p:cNvPr id="10" name="Lane step"/>
          <p:cNvSpPr txBox="1"/>
          <p:nvPr/>
        </p:nvSpPr>
        <p:spPr>
          <a:xfrm>
            <a:off x="822960" y="4581144"/>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보안 위험 평가</a:t>
            </a:r>
            <a:endParaRPr lang="en-US" sz="1400" dirty="0"/>
          </a:p>
        </p:txBody>
      </p:sp>
      <p:sp>
        <p:nvSpPr>
          <p:cNvPr id="11" name="Shape 9"/>
          <p:cNvSpPr/>
          <p:nvPr/>
        </p:nvSpPr>
        <p:spPr>
          <a:xfrm>
            <a:off x="2651760" y="5111496"/>
            <a:ext cx="0" cy="182880"/>
          </a:xfrm>
          <a:prstGeom prst="line">
            <a:avLst/>
          </a:prstGeom>
          <a:noFill/>
          <a:ln w="25400">
            <a:solidFill>
              <a:srgbClr val="44546A"/>
            </a:solidFill>
            <a:prstDash val="solid"/>
            <a:tailEnd type="triangle"/>
          </a:ln>
        </p:spPr>
      </p:sp>
      <p:sp>
        <p:nvSpPr>
          <p:cNvPr id="12" name="Lane step"/>
          <p:cNvSpPr txBox="1"/>
          <p:nvPr/>
        </p:nvSpPr>
        <p:spPr>
          <a:xfrm>
            <a:off x="822960" y="5294376"/>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보안 통제(security control)</a:t>
            </a:r>
            <a:endParaRPr lang="en-US" sz="1400" dirty="0"/>
          </a:p>
        </p:txBody>
      </p:sp>
      <p:sp>
        <p:nvSpPr>
          <p:cNvPr id="13" name="Lane header"/>
          <p:cNvSpPr txBox="1"/>
          <p:nvPr/>
        </p:nvSpPr>
        <p:spPr>
          <a:xfrm>
            <a:off x="7342632" y="2468880"/>
            <a:ext cx="4389120" cy="566928"/>
          </a:xfrm>
          <a:prstGeom prst="roundRect">
            <a:avLst>
              <a:gd name="adj" fmla="val 16129"/>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안전 위험관리</a:t>
            </a:r>
            <a:endParaRPr lang="en-US" sz="1400" dirty="0"/>
          </a:p>
          <a:p>
            <a:pPr algn="ctr" indent="0" marL="0">
              <a:buNone/>
            </a:pPr>
            <a:r>
              <a:rPr lang="en-US" sz="1400" b="1" dirty="0">
                <a:solidFill>
                  <a:srgbClr val="FFFFFF"/>
                </a:solidFill>
              </a:rPr>
              <a:t>ISO 14971:2019</a:t>
            </a:r>
            <a:endParaRPr lang="en-US" sz="1400" dirty="0"/>
          </a:p>
        </p:txBody>
      </p:sp>
      <p:sp>
        <p:nvSpPr>
          <p:cNvPr id="14" name="Lane step"/>
          <p:cNvSpPr txBox="1"/>
          <p:nvPr/>
        </p:nvSpPr>
        <p:spPr>
          <a:xfrm>
            <a:off x="7708392" y="3154680"/>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위험원(hazard) 식별</a:t>
            </a:r>
            <a:endParaRPr lang="en-US" sz="1400" dirty="0"/>
          </a:p>
        </p:txBody>
      </p:sp>
      <p:sp>
        <p:nvSpPr>
          <p:cNvPr id="15" name="Shape 13"/>
          <p:cNvSpPr/>
          <p:nvPr/>
        </p:nvSpPr>
        <p:spPr>
          <a:xfrm>
            <a:off x="9537192" y="3685032"/>
            <a:ext cx="0" cy="182880"/>
          </a:xfrm>
          <a:prstGeom prst="line">
            <a:avLst/>
          </a:prstGeom>
          <a:noFill/>
          <a:ln w="25400">
            <a:solidFill>
              <a:srgbClr val="44546A"/>
            </a:solidFill>
            <a:prstDash val="solid"/>
            <a:tailEnd type="triangle"/>
          </a:ln>
        </p:spPr>
      </p:sp>
      <p:sp>
        <p:nvSpPr>
          <p:cNvPr id="16" name="Lane step"/>
          <p:cNvSpPr txBox="1"/>
          <p:nvPr/>
        </p:nvSpPr>
        <p:spPr>
          <a:xfrm>
            <a:off x="7708392" y="3867912"/>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위해 상황(hazardous situation) 분석</a:t>
            </a:r>
            <a:endParaRPr lang="en-US" sz="1400" dirty="0"/>
          </a:p>
        </p:txBody>
      </p:sp>
      <p:sp>
        <p:nvSpPr>
          <p:cNvPr id="17" name="Shape 15"/>
          <p:cNvSpPr/>
          <p:nvPr/>
        </p:nvSpPr>
        <p:spPr>
          <a:xfrm>
            <a:off x="9537192" y="4398264"/>
            <a:ext cx="0" cy="182880"/>
          </a:xfrm>
          <a:prstGeom prst="line">
            <a:avLst/>
          </a:prstGeom>
          <a:noFill/>
          <a:ln w="25400">
            <a:solidFill>
              <a:srgbClr val="44546A"/>
            </a:solidFill>
            <a:prstDash val="solid"/>
            <a:tailEnd type="triangle"/>
          </a:ln>
        </p:spPr>
      </p:sp>
      <p:sp>
        <p:nvSpPr>
          <p:cNvPr id="18" name="Lane step"/>
          <p:cNvSpPr txBox="1"/>
          <p:nvPr/>
        </p:nvSpPr>
        <p:spPr>
          <a:xfrm>
            <a:off x="7708392" y="4581144"/>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 평가</a:t>
            </a:r>
            <a:endParaRPr lang="en-US" sz="1400" dirty="0"/>
          </a:p>
        </p:txBody>
      </p:sp>
      <p:sp>
        <p:nvSpPr>
          <p:cNvPr id="19" name="Shape 17"/>
          <p:cNvSpPr/>
          <p:nvPr/>
        </p:nvSpPr>
        <p:spPr>
          <a:xfrm>
            <a:off x="9537192" y="5111496"/>
            <a:ext cx="0" cy="182880"/>
          </a:xfrm>
          <a:prstGeom prst="line">
            <a:avLst/>
          </a:prstGeom>
          <a:noFill/>
          <a:ln w="25400">
            <a:solidFill>
              <a:srgbClr val="44546A"/>
            </a:solidFill>
            <a:prstDash val="solid"/>
            <a:tailEnd type="triangle"/>
          </a:ln>
        </p:spPr>
      </p:sp>
      <p:sp>
        <p:nvSpPr>
          <p:cNvPr id="20" name="Lane step"/>
          <p:cNvSpPr txBox="1"/>
          <p:nvPr/>
        </p:nvSpPr>
        <p:spPr>
          <a:xfrm>
            <a:off x="7708392" y="5294376"/>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 통제(risk control)</a:t>
            </a:r>
            <a:endParaRPr lang="en-US" sz="1400" dirty="0"/>
          </a:p>
        </p:txBody>
      </p:sp>
      <p:sp>
        <p:nvSpPr>
          <p:cNvPr id="21" name="Link header"/>
          <p:cNvSpPr txBox="1"/>
          <p:nvPr/>
        </p:nvSpPr>
        <p:spPr>
          <a:xfrm>
            <a:off x="5029200" y="2468880"/>
            <a:ext cx="2130552" cy="566928"/>
          </a:xfrm>
          <a:prstGeom prst="roundRect">
            <a:avLst>
              <a:gd name="adj" fmla="val 16129"/>
            </a:avLst>
          </a:prstGeom>
          <a:solidFill>
            <a:srgbClr val="77AE26"/>
          </a:solidFill>
          <a:ln>
            <a:solidFill>
              <a:srgbClr val="77AE26"/>
            </a:solidFill>
          </a:ln>
        </p:spPr>
        <p:txBody>
          <a:bodyPr wrap="square" lIns="38100" tIns="101600" rIns="101600" bIns="38100" rtlCol="0" anchor="ctr"/>
          <a:lstStyle/>
          <a:p>
            <a:pPr algn="ctr" indent="0" marL="0">
              <a:buNone/>
            </a:pPr>
            <a:r>
              <a:rPr lang="en-US" sz="1300" b="1" dirty="0">
                <a:solidFill>
                  <a:srgbClr val="FFFFFF"/>
                </a:solidFill>
              </a:rPr>
              <a:t>MDCG 2019-16 Rev.1</a:t>
            </a:r>
            <a:endParaRPr lang="en-US" sz="1300" dirty="0"/>
          </a:p>
          <a:p>
            <a:pPr algn="ctr" indent="0" marL="0">
              <a:buNone/>
            </a:pPr>
            <a:r>
              <a:rPr lang="en-US" sz="1300" b="1" dirty="0">
                <a:solidFill>
                  <a:srgbClr val="FFFFFF"/>
                </a:solidFill>
              </a:rPr>
              <a:t>부록 I · 상호 연계</a:t>
            </a:r>
            <a:endParaRPr lang="en-US" sz="1300" dirty="0"/>
          </a:p>
        </p:txBody>
      </p:sp>
      <p:sp>
        <p:nvSpPr>
          <p:cNvPr id="22" name="Shape 20"/>
          <p:cNvSpPr/>
          <p:nvPr/>
        </p:nvSpPr>
        <p:spPr>
          <a:xfrm>
            <a:off x="4480560" y="4846320"/>
            <a:ext cx="3227832" cy="0"/>
          </a:xfrm>
          <a:prstGeom prst="line">
            <a:avLst/>
          </a:prstGeom>
          <a:noFill/>
          <a:ln w="25400">
            <a:solidFill>
              <a:srgbClr val="B08600"/>
            </a:solidFill>
            <a:prstDash val="solid"/>
            <a:tailEnd type="triangle"/>
          </a:ln>
        </p:spPr>
      </p:sp>
      <p:sp>
        <p:nvSpPr>
          <p:cNvPr id="23" name="Text 21"/>
          <p:cNvSpPr txBox="1"/>
          <p:nvPr/>
        </p:nvSpPr>
        <p:spPr>
          <a:xfrm>
            <a:off x="4937760" y="4187952"/>
            <a:ext cx="2313432" cy="566928"/>
          </a:xfrm>
          <a:prstGeom prst="rect">
            <a:avLst/>
          </a:prstGeom>
          <a:noFill/>
          <a:ln/>
        </p:spPr>
        <p:txBody>
          <a:bodyPr wrap="square" lIns="0" tIns="0" rIns="0" bIns="0" rtlCol="0" anchor="b"/>
          <a:lstStyle/>
          <a:p>
            <a:pPr algn="ctr" indent="0" marL="0">
              <a:buNone/>
            </a:pPr>
            <a:r>
              <a:rPr lang="en-US" sz="1200" dirty="0">
                <a:solidFill>
                  <a:srgbClr val="262626"/>
                </a:solidFill>
              </a:rPr>
              <a:t>안전에 영향을 주는</a:t>
            </a:r>
            <a:endParaRPr lang="en-US" sz="1200" dirty="0"/>
          </a:p>
          <a:p>
            <a:pPr algn="ctr" indent="0" marL="0">
              <a:buNone/>
            </a:pPr>
            <a:r>
              <a:rPr lang="en-US" sz="1200" dirty="0">
                <a:solidFill>
                  <a:srgbClr val="262626"/>
                </a:solidFill>
              </a:rPr>
              <a:t>보안 위험 전달</a:t>
            </a:r>
            <a:endParaRPr lang="en-US" sz="1200" dirty="0"/>
          </a:p>
        </p:txBody>
      </p:sp>
      <p:sp>
        <p:nvSpPr>
          <p:cNvPr id="24" name="Shape 22"/>
          <p:cNvSpPr/>
          <p:nvPr/>
        </p:nvSpPr>
        <p:spPr>
          <a:xfrm flipH="1">
            <a:off x="4480560" y="5559552"/>
            <a:ext cx="3227832" cy="0"/>
          </a:xfrm>
          <a:prstGeom prst="line">
            <a:avLst/>
          </a:prstGeom>
          <a:noFill/>
          <a:ln w="25400">
            <a:solidFill>
              <a:srgbClr val="B08600"/>
            </a:solidFill>
            <a:prstDash val="solid"/>
            <a:tailEnd type="triangle"/>
          </a:ln>
        </p:spPr>
      </p:sp>
      <p:sp>
        <p:nvSpPr>
          <p:cNvPr id="25" name="Text 23"/>
          <p:cNvSpPr txBox="1"/>
          <p:nvPr/>
        </p:nvSpPr>
        <p:spPr>
          <a:xfrm>
            <a:off x="4937760" y="5632704"/>
            <a:ext cx="2313432" cy="457200"/>
          </a:xfrm>
          <a:prstGeom prst="rect">
            <a:avLst/>
          </a:prstGeom>
          <a:noFill/>
          <a:ln/>
        </p:spPr>
        <p:txBody>
          <a:bodyPr wrap="square" lIns="0" tIns="0" rIns="0" bIns="0" rtlCol="0" anchor="t"/>
          <a:lstStyle/>
          <a:p>
            <a:pPr algn="ctr" indent="0" marL="0">
              <a:buNone/>
            </a:pPr>
            <a:r>
              <a:rPr lang="en-US" sz="1200" dirty="0">
                <a:solidFill>
                  <a:srgbClr val="262626"/>
                </a:solidFill>
              </a:rPr>
              <a:t>위험 통제의 보안 영향 전달</a:t>
            </a:r>
            <a:endParaRPr lang="en-US" sz="1200" dirty="0"/>
          </a:p>
        </p:txBody>
      </p:sp>
      <p:sp>
        <p:nvSpPr>
          <p:cNvPr id="26" name="Text 24"/>
          <p:cNvSpPr txBox="1"/>
          <p:nvPr/>
        </p:nvSpPr>
        <p:spPr>
          <a:xfrm>
            <a:off x="457200" y="6172200"/>
            <a:ext cx="10607040" cy="320040"/>
          </a:xfrm>
          <a:prstGeom prst="rect">
            <a:avLst/>
          </a:prstGeom>
          <a:noFill/>
          <a:ln/>
        </p:spPr>
        <p:txBody>
          <a:bodyPr wrap="square" lIns="0" tIns="0" rIns="0" bIns="0" rtlCol="0" anchor="ctr"/>
          <a:lstStyle/>
          <a:p>
            <a:pPr indent="0" marL="0">
              <a:buNone/>
            </a:pPr>
            <a:r>
              <a:rPr lang="en-US" sz="1100" dirty="0">
                <a:solidFill>
                  <a:srgbClr val="7F7F7F"/>
                </a:solidFill>
              </a:rPr>
              <a:t>보조 참조: ISO/TR 24971:2020 부록 F(보안 관련 위험관리 지침), EU MDR 부속서 I 17.2·17.4·18.8항(정보보안·무단 접근 방지 요구사항)</a:t>
            </a:r>
            <a:endParaRPr lang="en-US" sz="11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통합 평가 매트릭스</a:t>
            </a:r>
            <a:endParaRPr lang="en-US" sz="2000" dirty="0"/>
          </a:p>
        </p:txBody>
      </p:sp>
      <p:sp>
        <p:nvSpPr>
          <p:cNvPr id="3" name="Purpose label"/>
          <p:cNvSpPr txBox="1"/>
          <p:nvPr/>
        </p:nvSpPr>
        <p:spPr>
          <a:xfrm>
            <a:off x="457200" y="1188720"/>
            <a:ext cx="1005840" cy="914400"/>
          </a:xfrm>
          <a:prstGeom prst="roundRect">
            <a:avLst>
              <a:gd name="adj" fmla="val 12000"/>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914400"/>
          </a:xfrm>
          <a:prstGeom prst="roundRect">
            <a:avLst>
              <a:gd name="adj" fmla="val 12000"/>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보안 위험을 먼저 공격 가능성(exploitability)과 영향(impact)으로 평가하고, 환자 안전에 영향을 주는 항목만 안전 매트릭스로 넘겨 위해의 심각도(severity)로 다시 평가한다.</a:t>
            </a:r>
            <a:endParaRPr lang="en-US" sz="1600" dirty="0"/>
          </a:p>
        </p:txBody>
      </p:sp>
      <p:sp>
        <p:nvSpPr>
          <p:cNvPr id="5" name="Step 1"/>
          <p:cNvSpPr txBox="1"/>
          <p:nvPr/>
        </p:nvSpPr>
        <p:spPr>
          <a:xfrm>
            <a:off x="457200" y="2514600"/>
            <a:ext cx="3017520" cy="868680"/>
          </a:xfrm>
          <a:prstGeom prst="roundRect">
            <a:avLst>
              <a:gd name="adj" fmla="val 10526"/>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b="1" dirty="0">
                <a:solidFill>
                  <a:srgbClr val="262626"/>
                </a:solidFill>
              </a:rPr>
              <a:t>1단계 · 보안 평가</a:t>
            </a:r>
            <a:endParaRPr lang="en-US" sz="1400" dirty="0"/>
          </a:p>
          <a:p>
            <a:pPr algn="ctr" indent="0" marL="0">
              <a:buNone/>
            </a:pPr>
            <a:r>
              <a:rPr lang="en-US" sz="1400" dirty="0">
                <a:solidFill>
                  <a:srgbClr val="262626"/>
                </a:solidFill>
              </a:rPr>
              <a:t>공격 가능성 × 기밀성·무결성·가용성(CIA) 영향</a:t>
            </a:r>
            <a:endParaRPr lang="en-US" sz="1400" dirty="0"/>
          </a:p>
        </p:txBody>
      </p:sp>
      <p:sp>
        <p:nvSpPr>
          <p:cNvPr id="6" name="Shape 4"/>
          <p:cNvSpPr/>
          <p:nvPr/>
        </p:nvSpPr>
        <p:spPr>
          <a:xfrm>
            <a:off x="1965960" y="3383280"/>
            <a:ext cx="0" cy="274320"/>
          </a:xfrm>
          <a:prstGeom prst="line">
            <a:avLst/>
          </a:prstGeom>
          <a:noFill/>
          <a:ln w="25400">
            <a:solidFill>
              <a:srgbClr val="44546A"/>
            </a:solidFill>
            <a:prstDash val="solid"/>
            <a:tailEnd type="triangle"/>
          </a:ln>
        </p:spPr>
      </p:sp>
      <p:sp>
        <p:nvSpPr>
          <p:cNvPr id="7" name="Decision"/>
          <p:cNvSpPr txBox="1"/>
          <p:nvPr/>
        </p:nvSpPr>
        <p:spPr>
          <a:xfrm>
            <a:off x="685800" y="3657600"/>
            <a:ext cx="2560320" cy="1097280"/>
          </a:xfrm>
          <a:prstGeom prst="diamond">
            <a:avLst/>
          </a:prstGeom>
          <a:solidFill>
            <a:srgbClr val="E5F4CE"/>
          </a:solidFill>
          <a:ln w="19050">
            <a:solidFill>
              <a:srgbClr val="77AE26"/>
            </a:solidFill>
          </a:ln>
        </p:spPr>
        <p:txBody>
          <a:bodyPr wrap="square" lIns="0" tIns="0" rIns="0" bIns="0" rtlCol="0" anchor="ctr"/>
          <a:lstStyle/>
          <a:p>
            <a:pPr algn="ctr" indent="0" marL="0">
              <a:buNone/>
            </a:pPr>
            <a:r>
              <a:rPr lang="en-US" sz="1300" b="1" dirty="0">
                <a:solidFill>
                  <a:srgbClr val="262626"/>
                </a:solidFill>
              </a:rPr>
              <a:t>환자 안전에</a:t>
            </a:r>
            <a:endParaRPr lang="en-US" sz="1300" dirty="0"/>
          </a:p>
          <a:p>
            <a:pPr algn="ctr" indent="0" marL="0">
              <a:buNone/>
            </a:pPr>
            <a:r>
              <a:rPr lang="en-US" sz="1300" b="1" dirty="0">
                <a:solidFill>
                  <a:srgbClr val="262626"/>
                </a:solidFill>
              </a:rPr>
              <a:t>영향이 있는가?</a:t>
            </a:r>
            <a:endParaRPr lang="en-US" sz="1300" dirty="0"/>
          </a:p>
        </p:txBody>
      </p:sp>
      <p:sp>
        <p:nvSpPr>
          <p:cNvPr id="8" name="Shape 6"/>
          <p:cNvSpPr/>
          <p:nvPr/>
        </p:nvSpPr>
        <p:spPr>
          <a:xfrm>
            <a:off x="3246120" y="4206240"/>
            <a:ext cx="548640" cy="0"/>
          </a:xfrm>
          <a:prstGeom prst="line">
            <a:avLst/>
          </a:prstGeom>
          <a:noFill/>
          <a:ln w="25400">
            <a:solidFill>
              <a:srgbClr val="44546A"/>
            </a:solidFill>
            <a:prstDash val="solid"/>
            <a:tailEnd type="triangle"/>
          </a:ln>
        </p:spPr>
      </p:sp>
      <p:sp>
        <p:nvSpPr>
          <p:cNvPr id="9" name="Text 7"/>
          <p:cNvSpPr txBox="1"/>
          <p:nvPr/>
        </p:nvSpPr>
        <p:spPr>
          <a:xfrm>
            <a:off x="3246120" y="3858768"/>
            <a:ext cx="594360" cy="274320"/>
          </a:xfrm>
          <a:prstGeom prst="rect">
            <a:avLst/>
          </a:prstGeom>
          <a:noFill/>
          <a:ln/>
        </p:spPr>
        <p:txBody>
          <a:bodyPr wrap="square" lIns="0" tIns="0" rIns="0" bIns="0" rtlCol="0" anchor="ctr"/>
          <a:lstStyle/>
          <a:p>
            <a:pPr algn="ctr" indent="0" marL="0">
              <a:buNone/>
            </a:pPr>
            <a:r>
              <a:rPr lang="en-US" sz="1100" dirty="0">
                <a:solidFill>
                  <a:srgbClr val="7F7F7F"/>
                </a:solidFill>
              </a:rPr>
              <a:t>아니오</a:t>
            </a:r>
            <a:endParaRPr lang="en-US" sz="1100" dirty="0"/>
          </a:p>
        </p:txBody>
      </p:sp>
      <p:sp>
        <p:nvSpPr>
          <p:cNvPr id="10" name="No branch"/>
          <p:cNvSpPr txBox="1"/>
          <p:nvPr/>
        </p:nvSpPr>
        <p:spPr>
          <a:xfrm>
            <a:off x="3794760" y="3840480"/>
            <a:ext cx="1600200" cy="731520"/>
          </a:xfrm>
          <a:prstGeom prst="roundRect">
            <a:avLst>
              <a:gd name="adj" fmla="val 12500"/>
            </a:avLst>
          </a:prstGeom>
          <a:solidFill>
            <a:srgbClr val="FFFFFF"/>
          </a:solidFill>
          <a:ln w="12700">
            <a:solidFill>
              <a:srgbClr val="7F7F7F"/>
            </a:solidFill>
          </a:ln>
        </p:spPr>
        <p:txBody>
          <a:bodyPr wrap="square" lIns="38100" tIns="101600" rIns="101600" bIns="38100" rtlCol="0" anchor="ctr"/>
          <a:lstStyle/>
          <a:p>
            <a:pPr algn="ctr" indent="0" marL="0">
              <a:buNone/>
            </a:pPr>
            <a:r>
              <a:rPr lang="en-US" sz="1200" dirty="0">
                <a:solidFill>
                  <a:srgbClr val="262626"/>
                </a:solidFill>
              </a:rPr>
              <a:t>보안 위험으로만 관리함</a:t>
            </a:r>
            <a:endParaRPr lang="en-US" sz="1200" dirty="0"/>
          </a:p>
          <a:p>
            <a:pPr algn="ctr" indent="0" marL="0">
              <a:buNone/>
            </a:pPr>
            <a:r>
              <a:rPr lang="en-US" sz="1200" dirty="0">
                <a:solidFill>
                  <a:srgbClr val="262626"/>
                </a:solidFill>
              </a:rPr>
              <a:t>(데이터 보호 등)</a:t>
            </a:r>
            <a:endParaRPr lang="en-US" sz="1200" dirty="0"/>
          </a:p>
        </p:txBody>
      </p:sp>
      <p:sp>
        <p:nvSpPr>
          <p:cNvPr id="11" name="Shape 9"/>
          <p:cNvSpPr/>
          <p:nvPr/>
        </p:nvSpPr>
        <p:spPr>
          <a:xfrm>
            <a:off x="1965960" y="4754880"/>
            <a:ext cx="0" cy="320040"/>
          </a:xfrm>
          <a:prstGeom prst="line">
            <a:avLst/>
          </a:prstGeom>
          <a:noFill/>
          <a:ln w="25400">
            <a:solidFill>
              <a:srgbClr val="44546A"/>
            </a:solidFill>
            <a:prstDash val="solid"/>
            <a:tailEnd type="triangle"/>
          </a:ln>
        </p:spPr>
      </p:sp>
      <p:sp>
        <p:nvSpPr>
          <p:cNvPr id="12" name="Text 10"/>
          <p:cNvSpPr txBox="1"/>
          <p:nvPr/>
        </p:nvSpPr>
        <p:spPr>
          <a:xfrm>
            <a:off x="2057400" y="4754880"/>
            <a:ext cx="365760" cy="274320"/>
          </a:xfrm>
          <a:prstGeom prst="rect">
            <a:avLst/>
          </a:prstGeom>
          <a:noFill/>
          <a:ln/>
        </p:spPr>
        <p:txBody>
          <a:bodyPr wrap="square" lIns="0" tIns="0" rIns="0" bIns="0" rtlCol="0" anchor="ctr"/>
          <a:lstStyle/>
          <a:p>
            <a:pPr indent="0" marL="0">
              <a:buNone/>
            </a:pPr>
            <a:r>
              <a:rPr lang="en-US" sz="1100" dirty="0">
                <a:solidFill>
                  <a:srgbClr val="7F7F7F"/>
                </a:solidFill>
              </a:rPr>
              <a:t>예</a:t>
            </a:r>
            <a:endParaRPr lang="en-US" sz="1100" dirty="0"/>
          </a:p>
        </p:txBody>
      </p:sp>
      <p:sp>
        <p:nvSpPr>
          <p:cNvPr id="13" name="Step 2"/>
          <p:cNvSpPr txBox="1"/>
          <p:nvPr/>
        </p:nvSpPr>
        <p:spPr>
          <a:xfrm>
            <a:off x="457200" y="5074920"/>
            <a:ext cx="3017520" cy="868680"/>
          </a:xfrm>
          <a:prstGeom prst="roundRect">
            <a:avLst>
              <a:gd name="adj" fmla="val 10526"/>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2단계 · 안전 평가</a:t>
            </a:r>
            <a:endParaRPr lang="en-US" sz="1400" dirty="0"/>
          </a:p>
          <a:p>
            <a:pPr algn="ctr" indent="0" marL="0">
              <a:buNone/>
            </a:pPr>
            <a:r>
              <a:rPr lang="en-US" sz="1400" dirty="0">
                <a:solidFill>
                  <a:srgbClr val="FFFFFF"/>
                </a:solidFill>
              </a:rPr>
              <a:t>공격 가능성 × 위해 심각도 → 허용 여부 판정</a:t>
            </a:r>
            <a:endParaRPr lang="en-US" sz="1400" dirty="0"/>
          </a:p>
        </p:txBody>
      </p:sp>
      <p:graphicFrame>
        <p:nvGraphicFramePr>
          <p:cNvPr id="4" name="Risk matrix"/>
          <p:cNvGraphicFramePr>
            <a:graphicFrameLocks noGrp="1"/>
          </p:cNvGraphicFramePr>
          <p:nvPr>
            <p:extLst>
              <p:ext uri="{D42A27DB-BD31-4B8C-83A1-F6EECF244321}">
                <p14:modId xmlns:p14="http://schemas.microsoft.com/office/powerpoint/2010/main" val="1579011935"/>
              </p:ext>
            </p:extLst>
          </p:nvPr>
        </p:nvGraphicFramePr>
        <p:xfrm>
          <a:off x="5852160" y="2514600"/>
          <a:ext cx="5879592" cy="914400"/>
        </p:xfrm>
        <a:graphic>
          <a:graphicData uri="http://schemas.openxmlformats.org/drawingml/2006/table">
            <a:tbl>
              <a:tblPr/>
              <a:tblGrid>
                <a:gridCol w="2039112"/>
                <a:gridCol w="1280160"/>
                <a:gridCol w="1280160"/>
                <a:gridCol w="1280160"/>
              </a:tblGrid>
              <a:tr h="530352">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심각도 \ 공격 가능성</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낮음</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중간</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높음</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치명(Catastrophic)</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중대(Critical)</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심각(Serious)</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경미(Minor)</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무시 가능(Negligible)</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r>
            </a:tbl>
          </a:graphicData>
        </a:graphic>
      </p:graphicFrame>
      <p:sp>
        <p:nvSpPr>
          <p:cNvPr id="15" name="Text 12"/>
          <p:cNvSpPr txBox="1"/>
          <p:nvPr/>
        </p:nvSpPr>
        <p:spPr>
          <a:xfrm>
            <a:off x="5852160" y="5852160"/>
            <a:ext cx="5879592" cy="320040"/>
          </a:xfrm>
          <a:prstGeom prst="rect">
            <a:avLst/>
          </a:prstGeom>
          <a:noFill/>
          <a:ln/>
        </p:spPr>
        <p:txBody>
          <a:bodyPr wrap="square" lIns="0" tIns="0" rIns="0" bIns="0" rtlCol="0" anchor="ctr"/>
          <a:lstStyle/>
          <a:p>
            <a:pPr indent="0" marL="0">
              <a:buNone/>
            </a:pPr>
            <a:r>
              <a:rPr lang="en-US" sz="1100" dirty="0">
                <a:solidFill>
                  <a:srgbClr val="7F7F7F"/>
                </a:solidFill>
              </a:rPr>
              <a:t>예시. 실제 등급과 판정 기준은 위험관리 계획서(risk management plan)에 미리 정의함</a:t>
            </a:r>
            <a:endParaRPr lang="en-US" sz="11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공격 가능성 산정</a:t>
            </a:r>
            <a:endParaRPr lang="en-US" sz="2000" dirty="0"/>
          </a:p>
        </p:txBody>
      </p:sp>
      <p:sp>
        <p:nvSpPr>
          <p:cNvPr id="3" name="Purpose label"/>
          <p:cNvSpPr txBox="1"/>
          <p:nvPr/>
        </p:nvSpPr>
        <p:spPr>
          <a:xfrm>
            <a:off x="457200" y="1188720"/>
            <a:ext cx="1005840" cy="914400"/>
          </a:xfrm>
          <a:prstGeom prst="roundRect">
            <a:avLst>
              <a:gd name="adj" fmla="val 12000"/>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914400"/>
          </a:xfrm>
          <a:prstGeom prst="roundRect">
            <a:avLst>
              <a:gd name="adj" fmla="val 12000"/>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의도적 공격은 과거 데이터로 발생 확률을 추정하기 어렵다. 따라서 공격에 필요한 조건을 점수화한 공격 가능성(exploitability)으로 확률 축을 대신한다.</a:t>
            </a:r>
            <a:endParaRPr lang="en-US" sz="1600" dirty="0"/>
          </a:p>
        </p:txBody>
      </p:sp>
      <p:graphicFrame>
        <p:nvGraphicFramePr>
          <p:cNvPr id="5" name="Attack potential table"/>
          <p:cNvGraphicFramePr>
            <a:graphicFrameLocks noGrp="1"/>
          </p:cNvGraphicFramePr>
          <p:nvPr>
            <p:extLst>
              <p:ext uri="{D42A27DB-BD31-4B8C-83A1-F6EECF244321}">
                <p14:modId xmlns:p14="http://schemas.microsoft.com/office/powerpoint/2010/main" val="1579011935"/>
              </p:ext>
            </p:extLst>
          </p:nvPr>
        </p:nvGraphicFramePr>
        <p:xfrm>
          <a:off x="457200" y="2514600"/>
          <a:ext cx="6949440" cy="914400"/>
        </p:xfrm>
        <a:graphic>
          <a:graphicData uri="http://schemas.openxmlformats.org/drawingml/2006/table">
            <a:tbl>
              <a:tblPr/>
              <a:tblGrid>
                <a:gridCol w="3108960"/>
                <a:gridCol w="1920240"/>
                <a:gridCol w="1920240"/>
              </a:tblGrid>
              <a:tr h="512064">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공격 잠재력 요소</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낮은 점수(쉬움)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높은 점수(어려움)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소요 시간(elapsed time)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1일 이내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수개월 이상</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전문성(expertise)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일반인</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여러 분야 전문가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제품 정보(knowledge of TOE)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공개 정보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기밀 정보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접근 기회(window of opportunity)</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원격·무제한</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물리적 접근·제한적</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장비(equipment)</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일반 장비</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맞춤 제작 장비</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457200" y="5715000"/>
            <a:ext cx="6949440" cy="320040"/>
          </a:xfrm>
          <a:prstGeom prst="rect">
            <a:avLst/>
          </a:prstGeom>
          <a:noFill/>
          <a:ln/>
        </p:spPr>
        <p:txBody>
          <a:bodyPr wrap="square" lIns="0" tIns="0" rIns="0" bIns="0" rtlCol="0" anchor="ctr"/>
          <a:lstStyle/>
          <a:p>
            <a:pPr indent="0" marL="0">
              <a:buNone/>
            </a:pPr>
            <a:r>
              <a:rPr lang="en-US" sz="1100" dirty="0">
                <a:solidFill>
                  <a:srgbClr val="7F7F7F"/>
                </a:solidFill>
              </a:rPr>
              <a:t>근거: ISO/IEC 18045 공격 잠재력(attack potential) 산정 요소</a:t>
            </a:r>
            <a:endParaRPr lang="en-US" sz="1100" dirty="0"/>
          </a:p>
        </p:txBody>
      </p:sp>
      <p:sp>
        <p:nvSpPr>
          <p:cNvPr id="7" name="Text 4"/>
          <p:cNvSpPr txBox="1"/>
          <p:nvPr/>
        </p:nvSpPr>
        <p:spPr>
          <a:xfrm>
            <a:off x="7863840" y="2514600"/>
            <a:ext cx="3867912" cy="411480"/>
          </a:xfrm>
          <a:prstGeom prst="rect">
            <a:avLst/>
          </a:prstGeom>
          <a:noFill/>
          <a:ln/>
        </p:spPr>
        <p:txBody>
          <a:bodyPr wrap="square" lIns="0" tIns="0" rIns="0" bIns="0" rtlCol="0" anchor="ctr"/>
          <a:lstStyle/>
          <a:p>
            <a:pPr indent="0" marL="0">
              <a:buNone/>
            </a:pPr>
            <a:r>
              <a:rPr lang="en-US" sz="1600" b="1" dirty="0">
                <a:solidFill>
                  <a:srgbClr val="44546A"/>
                </a:solidFill>
              </a:rPr>
              <a:t>점수 합계 → 등급 변환</a:t>
            </a:r>
            <a:endParaRPr lang="en-US" sz="1600" dirty="0"/>
          </a:p>
        </p:txBody>
      </p:sp>
      <p:sp>
        <p:nvSpPr>
          <p:cNvPr id="8" name="Text 5"/>
          <p:cNvSpPr txBox="1"/>
          <p:nvPr/>
        </p:nvSpPr>
        <p:spPr>
          <a:xfrm>
            <a:off x="7863840" y="3017520"/>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낮은 합계</a:t>
            </a:r>
            <a:endParaRPr lang="en-US" sz="1300" dirty="0"/>
          </a:p>
        </p:txBody>
      </p:sp>
      <p:sp>
        <p:nvSpPr>
          <p:cNvPr id="9" name="Shape 6"/>
          <p:cNvSpPr/>
          <p:nvPr/>
        </p:nvSpPr>
        <p:spPr>
          <a:xfrm>
            <a:off x="9098280" y="3255264"/>
            <a:ext cx="411480" cy="0"/>
          </a:xfrm>
          <a:prstGeom prst="line">
            <a:avLst/>
          </a:prstGeom>
          <a:noFill/>
          <a:ln w="25400">
            <a:solidFill>
              <a:srgbClr val="44546A"/>
            </a:solidFill>
            <a:prstDash val="solid"/>
            <a:tailEnd type="triangle"/>
          </a:ln>
        </p:spPr>
      </p:sp>
      <p:sp>
        <p:nvSpPr>
          <p:cNvPr id="10" name="Text 7"/>
          <p:cNvSpPr txBox="1"/>
          <p:nvPr/>
        </p:nvSpPr>
        <p:spPr>
          <a:xfrm>
            <a:off x="9601200" y="3017520"/>
            <a:ext cx="2130552" cy="475488"/>
          </a:xfrm>
          <a:prstGeom prst="roundRect">
            <a:avLst>
              <a:gd name="adj" fmla="val 38462"/>
            </a:avLst>
          </a:prstGeom>
          <a:solidFill>
            <a:srgbClr val="F4C7C3"/>
          </a:solidFill>
          <a:ln>
            <a:solidFill>
              <a:srgbClr val="F4C7C3"/>
            </a:solidFill>
          </a:ln>
        </p:spPr>
        <p:txBody>
          <a:bodyPr wrap="square" lIns="0" tIns="0" rIns="0" bIns="0" rtlCol="0" anchor="ctr"/>
          <a:lstStyle/>
          <a:p>
            <a:pPr algn="ctr" indent="0" marL="0">
              <a:buNone/>
            </a:pPr>
            <a:r>
              <a:rPr lang="en-US" sz="1300" b="1" dirty="0">
                <a:solidFill>
                  <a:srgbClr val="262626"/>
                </a:solidFill>
              </a:rPr>
              <a:t>공격 가능성 높음</a:t>
            </a:r>
            <a:endParaRPr lang="en-US" sz="1300" dirty="0"/>
          </a:p>
        </p:txBody>
      </p:sp>
      <p:sp>
        <p:nvSpPr>
          <p:cNvPr id="11" name="Text 8"/>
          <p:cNvSpPr txBox="1"/>
          <p:nvPr/>
        </p:nvSpPr>
        <p:spPr>
          <a:xfrm>
            <a:off x="7863840" y="3639312"/>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중간 합계</a:t>
            </a:r>
            <a:endParaRPr lang="en-US" sz="1300" dirty="0"/>
          </a:p>
        </p:txBody>
      </p:sp>
      <p:sp>
        <p:nvSpPr>
          <p:cNvPr id="12" name="Shape 9"/>
          <p:cNvSpPr/>
          <p:nvPr/>
        </p:nvSpPr>
        <p:spPr>
          <a:xfrm>
            <a:off x="9098280" y="3877056"/>
            <a:ext cx="411480" cy="0"/>
          </a:xfrm>
          <a:prstGeom prst="line">
            <a:avLst/>
          </a:prstGeom>
          <a:noFill/>
          <a:ln w="25400">
            <a:solidFill>
              <a:srgbClr val="44546A"/>
            </a:solidFill>
            <a:prstDash val="solid"/>
            <a:tailEnd type="triangle"/>
          </a:ln>
        </p:spPr>
      </p:sp>
      <p:sp>
        <p:nvSpPr>
          <p:cNvPr id="13" name="Text 10"/>
          <p:cNvSpPr txBox="1"/>
          <p:nvPr/>
        </p:nvSpPr>
        <p:spPr>
          <a:xfrm>
            <a:off x="9601200" y="3639312"/>
            <a:ext cx="2130552" cy="475488"/>
          </a:xfrm>
          <a:prstGeom prst="roundRect">
            <a:avLst>
              <a:gd name="adj" fmla="val 38462"/>
            </a:avLst>
          </a:prstGeom>
          <a:solidFill>
            <a:srgbClr val="FFE699"/>
          </a:solidFill>
          <a:ln>
            <a:solidFill>
              <a:srgbClr val="FFE699"/>
            </a:solidFill>
          </a:ln>
        </p:spPr>
        <p:txBody>
          <a:bodyPr wrap="square" lIns="0" tIns="0" rIns="0" bIns="0" rtlCol="0" anchor="ctr"/>
          <a:lstStyle/>
          <a:p>
            <a:pPr algn="ctr" indent="0" marL="0">
              <a:buNone/>
            </a:pPr>
            <a:r>
              <a:rPr lang="en-US" sz="1300" b="1" dirty="0">
                <a:solidFill>
                  <a:srgbClr val="262626"/>
                </a:solidFill>
              </a:rPr>
              <a:t>공격 가능성 중간</a:t>
            </a:r>
            <a:endParaRPr lang="en-US" sz="1300" dirty="0"/>
          </a:p>
        </p:txBody>
      </p:sp>
      <p:sp>
        <p:nvSpPr>
          <p:cNvPr id="14" name="Text 11"/>
          <p:cNvSpPr txBox="1"/>
          <p:nvPr/>
        </p:nvSpPr>
        <p:spPr>
          <a:xfrm>
            <a:off x="7863840" y="4261104"/>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높은 합계</a:t>
            </a:r>
            <a:endParaRPr lang="en-US" sz="1300" dirty="0"/>
          </a:p>
        </p:txBody>
      </p:sp>
      <p:sp>
        <p:nvSpPr>
          <p:cNvPr id="15" name="Shape 12"/>
          <p:cNvSpPr/>
          <p:nvPr/>
        </p:nvSpPr>
        <p:spPr>
          <a:xfrm>
            <a:off x="9098280" y="4498848"/>
            <a:ext cx="411480" cy="0"/>
          </a:xfrm>
          <a:prstGeom prst="line">
            <a:avLst/>
          </a:prstGeom>
          <a:noFill/>
          <a:ln w="25400">
            <a:solidFill>
              <a:srgbClr val="44546A"/>
            </a:solidFill>
            <a:prstDash val="solid"/>
            <a:tailEnd type="triangle"/>
          </a:ln>
        </p:spPr>
      </p:sp>
      <p:sp>
        <p:nvSpPr>
          <p:cNvPr id="16" name="Text 13"/>
          <p:cNvSpPr txBox="1"/>
          <p:nvPr/>
        </p:nvSpPr>
        <p:spPr>
          <a:xfrm>
            <a:off x="9601200" y="4261104"/>
            <a:ext cx="2130552" cy="475488"/>
          </a:xfrm>
          <a:prstGeom prst="roundRect">
            <a:avLst>
              <a:gd name="adj" fmla="val 38462"/>
            </a:avLst>
          </a:prstGeom>
          <a:solidFill>
            <a:srgbClr val="E5F4CE"/>
          </a:solidFill>
          <a:ln>
            <a:solidFill>
              <a:srgbClr val="E5F4CE"/>
            </a:solidFill>
          </a:ln>
        </p:spPr>
        <p:txBody>
          <a:bodyPr wrap="square" lIns="0" tIns="0" rIns="0" bIns="0" rtlCol="0" anchor="ctr"/>
          <a:lstStyle/>
          <a:p>
            <a:pPr algn="ctr" indent="0" marL="0">
              <a:buNone/>
            </a:pPr>
            <a:r>
              <a:rPr lang="en-US" sz="1300" b="1" dirty="0">
                <a:solidFill>
                  <a:srgbClr val="262626"/>
                </a:solidFill>
              </a:rPr>
              <a:t>공격 가능성 낮음</a:t>
            </a:r>
            <a:endParaRPr lang="en-US" sz="1300" dirty="0"/>
          </a:p>
        </p:txBody>
      </p:sp>
      <p:sp>
        <p:nvSpPr>
          <p:cNvPr id="17" name="CVSS note"/>
          <p:cNvSpPr txBox="1"/>
          <p:nvPr/>
        </p:nvSpPr>
        <p:spPr>
          <a:xfrm>
            <a:off x="7863840" y="4937760"/>
            <a:ext cx="3867912" cy="1097280"/>
          </a:xfrm>
          <a:prstGeom prst="roundRect">
            <a:avLst>
              <a:gd name="adj" fmla="val 8333"/>
            </a:avLst>
          </a:prstGeom>
          <a:solidFill>
            <a:srgbClr val="FFFFFF"/>
          </a:solidFill>
          <a:ln w="12700">
            <a:solidFill>
              <a:srgbClr val="7F7F7F"/>
            </a:solidFill>
          </a:ln>
        </p:spPr>
        <p:txBody>
          <a:bodyPr wrap="square" lIns="50800" tIns="127000" rIns="127000" bIns="50800" rtlCol="0" anchor="ctr"/>
          <a:lstStyle/>
          <a:p>
            <a:pPr algn="l" indent="0" marL="0">
              <a:buNone/>
            </a:pPr>
            <a:r>
              <a:rPr lang="en-US" sz="1300" b="1" dirty="0">
                <a:solidFill>
                  <a:srgbClr val="262626"/>
                </a:solidFill>
              </a:rPr>
              <a:t>대안: CVSS</a:t>
            </a:r>
            <a:endParaRPr lang="en-US" sz="1300" dirty="0"/>
          </a:p>
          <a:p>
            <a:pPr algn="l" indent="0" marL="0">
              <a:buNone/>
            </a:pPr>
            <a:r>
              <a:rPr lang="en-US" sz="1300" dirty="0">
                <a:solidFill>
                  <a:srgbClr val="262626"/>
                </a:solidFill>
              </a:rPr>
              <a:t>공격 가능성 지표(exploitability metrics)를 쓸 수 있음. 단, 환자 위해 심각도는 별도로 평가함</a:t>
            </a:r>
            <a:endParaRPr lang="en-US" sz="13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위험 허용 논리</a:t>
            </a:r>
            <a:endParaRPr lang="en-US" sz="2000" dirty="0"/>
          </a:p>
        </p:txBody>
      </p:sp>
      <p:sp>
        <p:nvSpPr>
          <p:cNvPr id="3" name="Purpose label"/>
          <p:cNvSpPr txBox="1"/>
          <p:nvPr/>
        </p:nvSpPr>
        <p:spPr>
          <a:xfrm>
            <a:off x="457200" y="1188720"/>
            <a:ext cx="1005840" cy="914400"/>
          </a:xfrm>
          <a:prstGeom prst="roundRect">
            <a:avLst>
              <a:gd name="adj" fmla="val 12000"/>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914400"/>
          </a:xfrm>
          <a:prstGeom prst="roundRect">
            <a:avLst>
              <a:gd name="adj" fmla="val 12000"/>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확률 대신 "사전 기준 + 최악 가정 + 통제 효과 검증 + 시판 후 감시"를 하나의 논리로 묶어 잔여 위험(residual risk)이 허용 가능함을 보인다.</a:t>
            </a:r>
            <a:endParaRPr lang="en-US" sz="1600" dirty="0"/>
          </a:p>
        </p:txBody>
      </p:sp>
      <p:sp>
        <p:nvSpPr>
          <p:cNvPr id="5" name="Step card 1"/>
          <p:cNvSpPr/>
          <p:nvPr/>
        </p:nvSpPr>
        <p:spPr>
          <a:xfrm>
            <a:off x="457200" y="2514600"/>
            <a:ext cx="2606040" cy="2194560"/>
          </a:xfrm>
          <a:prstGeom prst="roundRect">
            <a:avLst>
              <a:gd name="adj" fmla="val 5000"/>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6" name="Text 4"/>
          <p:cNvSpPr txBox="1"/>
          <p:nvPr/>
        </p:nvSpPr>
        <p:spPr>
          <a:xfrm>
            <a:off x="640080"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234440"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기준 사전 정의</a:t>
            </a:r>
            <a:endParaRPr lang="en-US" sz="1600" dirty="0"/>
          </a:p>
        </p:txBody>
      </p:sp>
      <p:sp>
        <p:nvSpPr>
          <p:cNvPr id="8" name="Text 6"/>
          <p:cNvSpPr txBox="1"/>
          <p:nvPr/>
        </p:nvSpPr>
        <p:spPr>
          <a:xfrm>
            <a:off x="640080" y="3383280"/>
            <a:ext cx="2240280" cy="1188720"/>
          </a:xfrm>
          <a:prstGeom prst="rect">
            <a:avLst/>
          </a:prstGeom>
          <a:noFill/>
          <a:ln/>
        </p:spPr>
        <p:txBody>
          <a:bodyPr wrap="square" lIns="0" tIns="0" rIns="0" bIns="0" rtlCol="0" anchor="t"/>
          <a:lstStyle/>
          <a:p>
            <a:pPr indent="0" marL="0">
              <a:buNone/>
            </a:pPr>
            <a:r>
              <a:rPr lang="en-US" sz="1400" dirty="0">
                <a:solidFill>
                  <a:srgbClr val="262626"/>
                </a:solidFill>
              </a:rPr>
              <a:t>위험관리 계획서에 공격 가능성 등급, 매트릭스, 허용 기준을 평가 전에 정해 둠</a:t>
            </a:r>
            <a:endParaRPr lang="en-US" sz="1400" dirty="0"/>
          </a:p>
        </p:txBody>
      </p:sp>
      <p:sp>
        <p:nvSpPr>
          <p:cNvPr id="9" name="Shape 7"/>
          <p:cNvSpPr/>
          <p:nvPr/>
        </p:nvSpPr>
        <p:spPr>
          <a:xfrm>
            <a:off x="3090672" y="3611880"/>
            <a:ext cx="228600" cy="0"/>
          </a:xfrm>
          <a:prstGeom prst="line">
            <a:avLst/>
          </a:prstGeom>
          <a:noFill/>
          <a:ln w="25400">
            <a:solidFill>
              <a:srgbClr val="B08600"/>
            </a:solidFill>
            <a:prstDash val="solid"/>
            <a:tailEnd type="triangle"/>
          </a:ln>
        </p:spPr>
      </p:sp>
      <p:sp>
        <p:nvSpPr>
          <p:cNvPr id="10" name="Step card 2"/>
          <p:cNvSpPr/>
          <p:nvPr/>
        </p:nvSpPr>
        <p:spPr>
          <a:xfrm>
            <a:off x="3346704" y="2514600"/>
            <a:ext cx="2606040" cy="2194560"/>
          </a:xfrm>
          <a:prstGeom prst="roundRect">
            <a:avLst>
              <a:gd name="adj" fmla="val 5000"/>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11" name="Text 9"/>
          <p:cNvSpPr txBox="1"/>
          <p:nvPr/>
        </p:nvSpPr>
        <p:spPr>
          <a:xfrm>
            <a:off x="3529584"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4123944"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최악 가정</a:t>
            </a:r>
            <a:endParaRPr lang="en-US" sz="1600" dirty="0"/>
          </a:p>
        </p:txBody>
      </p:sp>
      <p:sp>
        <p:nvSpPr>
          <p:cNvPr id="13" name="Text 11"/>
          <p:cNvSpPr txBox="1"/>
          <p:nvPr/>
        </p:nvSpPr>
        <p:spPr>
          <a:xfrm>
            <a:off x="3529584" y="3383280"/>
            <a:ext cx="2240280" cy="1188720"/>
          </a:xfrm>
          <a:prstGeom prst="rect">
            <a:avLst/>
          </a:prstGeom>
          <a:noFill/>
          <a:ln/>
        </p:spPr>
        <p:txBody>
          <a:bodyPr wrap="square" lIns="0" tIns="0" rIns="0" bIns="0" rtlCol="0" anchor="t"/>
          <a:lstStyle/>
          <a:p>
            <a:pPr indent="0" marL="0">
              <a:buNone/>
            </a:pPr>
            <a:r>
              <a:rPr lang="en-US" sz="1400" dirty="0">
                <a:solidFill>
                  <a:srgbClr val="262626"/>
                </a:solidFill>
              </a:rPr>
              <a:t>공격 가능성 평가 전에는 공격이 성공한다고 가정하고 위해 심각도를 평가함</a:t>
            </a:r>
            <a:endParaRPr lang="en-US" sz="1400" dirty="0"/>
          </a:p>
        </p:txBody>
      </p:sp>
      <p:sp>
        <p:nvSpPr>
          <p:cNvPr id="14" name="Shape 12"/>
          <p:cNvSpPr/>
          <p:nvPr/>
        </p:nvSpPr>
        <p:spPr>
          <a:xfrm>
            <a:off x="5980176" y="3611880"/>
            <a:ext cx="228600" cy="0"/>
          </a:xfrm>
          <a:prstGeom prst="line">
            <a:avLst/>
          </a:prstGeom>
          <a:noFill/>
          <a:ln w="25400">
            <a:solidFill>
              <a:srgbClr val="B08600"/>
            </a:solidFill>
            <a:prstDash val="solid"/>
            <a:tailEnd type="triangle"/>
          </a:ln>
        </p:spPr>
      </p:sp>
      <p:sp>
        <p:nvSpPr>
          <p:cNvPr id="15" name="Step card 3"/>
          <p:cNvSpPr/>
          <p:nvPr/>
        </p:nvSpPr>
        <p:spPr>
          <a:xfrm>
            <a:off x="6236208" y="2514600"/>
            <a:ext cx="2606040" cy="2194560"/>
          </a:xfrm>
          <a:prstGeom prst="roundRect">
            <a:avLst>
              <a:gd name="adj" fmla="val 5000"/>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16" name="Text 14"/>
          <p:cNvSpPr txBox="1"/>
          <p:nvPr/>
        </p:nvSpPr>
        <p:spPr>
          <a:xfrm>
            <a:off x="6419088"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7013448"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통제 효과 검증</a:t>
            </a:r>
            <a:endParaRPr lang="en-US" sz="1600" dirty="0"/>
          </a:p>
        </p:txBody>
      </p:sp>
      <p:sp>
        <p:nvSpPr>
          <p:cNvPr id="18" name="Text 16"/>
          <p:cNvSpPr txBox="1"/>
          <p:nvPr/>
        </p:nvSpPr>
        <p:spPr>
          <a:xfrm>
            <a:off x="6419088" y="3383280"/>
            <a:ext cx="2240280" cy="1188720"/>
          </a:xfrm>
          <a:prstGeom prst="rect">
            <a:avLst/>
          </a:prstGeom>
          <a:noFill/>
          <a:ln/>
        </p:spPr>
        <p:txBody>
          <a:bodyPr wrap="square" lIns="0" tIns="0" rIns="0" bIns="0" rtlCol="0" anchor="t"/>
          <a:lstStyle/>
          <a:p>
            <a:pPr indent="0" marL="0">
              <a:buNone/>
            </a:pPr>
            <a:r>
              <a:rPr lang="en-US" sz="1400" dirty="0">
                <a:solidFill>
                  <a:srgbClr val="262626"/>
                </a:solidFill>
              </a:rPr>
              <a:t>인증·암호화·무결성 검증 등 통제 적용 후 공격 가능성을 재평가하고 침투 시험(penetration testing)으로 확인함</a:t>
            </a:r>
            <a:endParaRPr lang="en-US" sz="1400" dirty="0"/>
          </a:p>
        </p:txBody>
      </p:sp>
      <p:sp>
        <p:nvSpPr>
          <p:cNvPr id="19" name="Shape 17"/>
          <p:cNvSpPr/>
          <p:nvPr/>
        </p:nvSpPr>
        <p:spPr>
          <a:xfrm>
            <a:off x="8869680" y="3611880"/>
            <a:ext cx="228600" cy="0"/>
          </a:xfrm>
          <a:prstGeom prst="line">
            <a:avLst/>
          </a:prstGeom>
          <a:noFill/>
          <a:ln w="25400">
            <a:solidFill>
              <a:srgbClr val="B08600"/>
            </a:solidFill>
            <a:prstDash val="solid"/>
            <a:tailEnd type="triangle"/>
          </a:ln>
        </p:spPr>
      </p:sp>
      <p:sp>
        <p:nvSpPr>
          <p:cNvPr id="20" name="Step card 4"/>
          <p:cNvSpPr/>
          <p:nvPr/>
        </p:nvSpPr>
        <p:spPr>
          <a:xfrm>
            <a:off x="9125712" y="2514600"/>
            <a:ext cx="2606040" cy="2194560"/>
          </a:xfrm>
          <a:prstGeom prst="roundRect">
            <a:avLst>
              <a:gd name="adj" fmla="val 5000"/>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21" name="Text 19"/>
          <p:cNvSpPr txBox="1"/>
          <p:nvPr/>
        </p:nvSpPr>
        <p:spPr>
          <a:xfrm>
            <a:off x="9308592"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9902952"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시판 후 감시</a:t>
            </a:r>
            <a:endParaRPr lang="en-US" sz="1600" dirty="0"/>
          </a:p>
        </p:txBody>
      </p:sp>
      <p:sp>
        <p:nvSpPr>
          <p:cNvPr id="23" name="Text 21"/>
          <p:cNvSpPr txBox="1"/>
          <p:nvPr/>
        </p:nvSpPr>
        <p:spPr>
          <a:xfrm>
            <a:off x="9308592" y="3383280"/>
            <a:ext cx="2240280" cy="1188720"/>
          </a:xfrm>
          <a:prstGeom prst="rect">
            <a:avLst/>
          </a:prstGeom>
          <a:noFill/>
          <a:ln/>
        </p:spPr>
        <p:txBody>
          <a:bodyPr wrap="square" lIns="0" tIns="0" rIns="0" bIns="0" rtlCol="0" anchor="t"/>
          <a:lstStyle/>
          <a:p>
            <a:pPr indent="0" marL="0">
              <a:buNone/>
            </a:pPr>
            <a:r>
              <a:rPr lang="en-US" sz="1400" dirty="0">
                <a:solidFill>
                  <a:srgbClr val="262626"/>
                </a:solidFill>
              </a:rPr>
              <a:t>취약점 모니터링, SBOM(소프트웨어 자재 명세서), 패치 계획으로 변화를 추적하고 재평가함</a:t>
            </a:r>
            <a:endParaRPr lang="en-US" sz="1400" dirty="0"/>
          </a:p>
        </p:txBody>
      </p:sp>
      <p:sp>
        <p:nvSpPr>
          <p:cNvPr id="24" name="Conclusion"/>
          <p:cNvSpPr txBox="1"/>
          <p:nvPr/>
        </p:nvSpPr>
        <p:spPr>
          <a:xfrm>
            <a:off x="457200" y="5029200"/>
            <a:ext cx="11274552" cy="868680"/>
          </a:xfrm>
          <a:prstGeom prst="roundRect">
            <a:avLst>
              <a:gd name="adj" fmla="val 12632"/>
            </a:avLst>
          </a:prstGeom>
          <a:solidFill>
            <a:srgbClr val="FFFFFF"/>
          </a:solidFill>
          <a:ln w="19050">
            <a:solidFill>
              <a:srgbClr val="44546A"/>
            </a:solidFill>
          </a:ln>
        </p:spPr>
        <p:txBody>
          <a:bodyPr wrap="square" lIns="50800" tIns="177800" rIns="177800" bIns="50800" rtlCol="0" anchor="ctr"/>
          <a:lstStyle/>
          <a:p>
            <a:pPr indent="0" marL="0">
              <a:buNone/>
            </a:pPr>
            <a:r>
              <a:rPr lang="en-US" sz="1400" b="1" dirty="0">
                <a:solidFill>
                  <a:srgbClr val="B08600"/>
                </a:solidFill>
              </a:rPr>
              <a:t>결론  </a:t>
            </a:r>
            <a:pPr indent="0" marL="0">
              <a:buNone/>
            </a:pPr>
            <a:r>
              <a:rPr lang="en-US" sz="1400" dirty="0">
                <a:solidFill>
                  <a:srgbClr val="262626"/>
                </a:solidFill>
              </a:rPr>
              <a:t>잔여 위험이 허용 기준을 넘으면 추가 통제를 적용한다. 더 줄일 수 없는 개별 위험은 이익-위험 분석(benefit-risk analysis, ISO 14971:2019 7.4항)으로 판단하고, 전체 잔여 위험은 8항에 따라 평가한다.</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SaMD Edu">
  <a:themeElements>
    <a:clrScheme name="SaMD Edu">
      <a:dk1>
        <a:srgbClr val="262626"/>
      </a:dk1>
      <a:lt1>
        <a:srgbClr val="FFFFFF"/>
      </a:lt1>
      <a:dk2>
        <a:srgbClr val="44546A"/>
      </a:dk2>
      <a:lt2>
        <a:srgbClr val="E5F4CE"/>
      </a:lt2>
      <a:accent1>
        <a:srgbClr val="77AE26"/>
      </a:accent1>
      <a:accent2>
        <a:srgbClr val="B08600"/>
      </a:accent2>
      <a:accent3>
        <a:srgbClr val="44546A"/>
      </a:accent3>
      <a:accent4>
        <a:srgbClr val="C00000"/>
      </a:accent4>
      <a:accent5>
        <a:srgbClr val="FFE699"/>
      </a:accent5>
      <a:accent6>
        <a:srgbClr val="F4C7C3"/>
      </a:accent6>
      <a:hlink>
        <a:srgbClr val="44546A"/>
      </a:hlink>
      <a:folHlink>
        <a:srgbClr val="7F7F7F"/>
      </a:folHlink>
    </a:clrScheme>
    <a:fontScheme name="SaMD Edu">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사이버보안 위험관리 (Security Risk Management)</dc:title>
  <dc:subject>PptxGenJS Presentation</dc:subject>
  <dc:creator>PptxGenJS</dc:creator>
  <cp:lastModifiedBy>PptxGenJS</cp:lastModifiedBy>
  <cp:revision>1</cp:revision>
  <dcterms:created xsi:type="dcterms:W3CDTF">2026-10-27T16:35:17Z</dcterms:created>
  <dcterms:modified xsi:type="dcterms:W3CDTF">2026-10-27T16:35:17Z</dcterms:modified>
</cp:coreProperties>
</file>