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1 사이버보안 위험관리" id="{9128ef27-87f0-8364-d94b-69b0f79f66a6}">
          <p14:sldIdLst>
            <p14:sldId id="256"/>
            <p14:sldId id="257"/>
            <p14:sldId id="258"/>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섹션은 보안 위협이 환자 안전 위해로 이어지는 경로를 위험관리 체계 안에서 다루는 방법을 정리한다. 핵심 과제 두 가지를 제시한다. 첫째, 안전 위험과 보안 위험을 함께 평가하는 매트릭스를 설계한다. 둘째, 의도적 공격의 발생 확률을 산정하기 어려운 상황에서 인증기관(Notified Body, NB)이 수용할 수 있는 위험 허용 논리를 세운다.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MDCG 2019-16 §3.2는 보안 위험을 위험관리 프로세스의 범위 안에 두므로 별도 프로세스가 필수는 아니라고 설명한다. 다만 보안 위험에는 위협 모델링 같은 보안 특화 방법을 쓴다. 두 활동은 결과를 서로 주고받는다. 예를 들어 개인정보 노출을 막으려고 화면을 가리는 보안 통제는 생체 신호를 표시하는 기기에서는 안전 문제가 된다. 이 관계는 MDCG 2019-16 부록 IV와 그림 6에 도식으로 나와 있다. ISO 14971은 위해·심각도 등의 용어와 위험관리 프로세스를 규정하고, 위험 허용 기준은 제조사가 정하도록 요구한다. AAMI TIR57은 ISO 14971의 틀 안에서 보안 위험관리를 수행하는 지침이다. ANSI/AAMI SW96:2023은 TIR57·TIR97의 지침을 바탕으로 수명주기 전반의 보안 위험관리 요구사항을 제시한다. TIR57은 EU 정합 규격(harmonised standard)이 아니므로, 적용 방법의 적절성을 설명하는 참고 근거로 활용한다.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공격 가능성은 위해 발생 확률과 같지 않다. 공격이 성공해도 위해상황과 위해로 이어지는 경로를 따로 분석해야 한다. 그래서 공격 가능성은 위해상황이 생길 가능성을 판단하는 입력으로 쓴다. ISO 14971:2019 5.5항은 위해 발생 확률을 추정할 수 없으면 가능한 결과를 나열해 위험평가와 위험 통제에 활용하도록 요구한다. 따라서 확률을 추정하지 않은 사유를 기록하고, 심각도와 통제 근거를 바탕으로 미리 정한 기준에 따라 판정한다. "추가 통제 검토" 칸은 최종 판정이 아니므로, 검토 후 허용 또는 허용 불가로 처분하는 규칙도 계획서에 둔다. 추적 예시는 다음과 같다. 위협 시나리오(무선 인터페이스로 주입 펌프 설정 변조) → 사건 연쇄(과다 주입 실행) → 위해상황(환자에게 과량의 약물이 주입되는 상황) → 위해(약물 독성에 따른 건강 손상) → 통제(명령 인증·무결성 검증) → 검증 결과 → 잔여 위험 판정.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MDCG 2019-16 §3.4는 보안 시나리오의 가능성 판단을 CVSS 같은 구조화된 점수 체계로 뒷받침할 수 있다고 설명한다. 공격 잠재력 요소는 공격자가 실제로 들여야 하는 시간, 지식, 장비를 기준으로 하므로 재현하고 설명하기 쉽다. CVSS v4.0을 쓰면 공격 요구조건(AT) 같은 바뀐 지표를 반영한다. 어떤 체계를 쓰든 점수와 등급 변환 기준을 평가 전에 고정한다.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NB가 확인할 핵심 사항은 기준을 평가 결과에 맞춰 바꾸지 않았는지이다. 그래서 기준을 계획서에 미리 고정하는 것이 출발점이다. 최악 결과 가정은 위해 경로와 임상적 결과를 명시할 때 의미가 있다. 침투 시험에서 문제가 발견되지 않았다는 사실만으로 모든 통제의 효과를 입증하지는 못하므로, 여러 검증 방법과 시험 범위를 함께 제시한다. SBOM은 그 자체로 감시 활동이 아니라 감시의 입력이다. 취약점 접수 책임자, 재평가 기한, 패치 검증, 지원 종료 계획을 함께 정한다. EU MDR 부속서 I 2항은 이익-위험 비율에 악영향을 주지 않는 범위에서 위험을 가능한 한(as far as possible) 줄이도록 요구한다. 따라서 검토한 통제 대안, 채택 여부, 더 줄일 수 없는 근거를 기록한다. 7.4항의 분석은 안전 위험평가에서 기준을 충족하지 못한 개별 잔여 위험에 적용한다. 반면 MDCG 2019-16 §3.5에 따르면 보안 시나리오마다 별도로 이익-위험 분석을 하지 않고, 보안 관련 위험원을 포함한 안전 위험평가를 바탕으로 전체 이익-위험 분석을 수행한다.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Cov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Malgun Gothic"/>
                <a:ea typeface="Malgun Gothic"/>
                <a:cs typeface="Malgun Gothic"/>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Malgun Gothic"/>
                <a:ea typeface="Malgun Gothic"/>
                <a:cs typeface="Malgun Gothic"/>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 triangle"/>
          <p:cNvSpPr/>
          <p:nvPr/>
        </p:nvSpPr>
        <p:spPr>
          <a:xfrm flipH="1">
            <a:off x="8778240" y="3566160"/>
            <a:ext cx="3410712" cy="3291840"/>
          </a:xfrm>
          <a:prstGeom prst="rtTriangle">
            <a:avLst/>
          </a:prstGeom>
          <a:solidFill>
            <a:srgbClr val="D9D9D9"/>
          </a:solidFill>
          <a:ln w="12700">
            <a:solidFill>
              <a:srgbClr val="D9D9D9"/>
            </a:solidFill>
            <a:prstDash val="solid"/>
          </a:ln>
        </p:spPr>
      </p:sp>
      <p:sp>
        <p:nvSpPr>
          <p:cNvPr id="3" name="Deco triangle"/>
          <p:cNvSpPr/>
          <p:nvPr/>
        </p:nvSpPr>
        <p:spPr>
          <a:xfrm flipH="1">
            <a:off x="10058400" y="4846320"/>
            <a:ext cx="2130552" cy="2011680"/>
          </a:xfrm>
          <a:prstGeom prst="rtTriangle">
            <a:avLst/>
          </a:prstGeom>
          <a:solidFill>
            <a:srgbClr val="BFBFBF"/>
          </a:solidFill>
          <a:ln w="12700">
            <a:solidFill>
              <a:srgbClr val="BFBFBF"/>
            </a:solidFill>
            <a:prstDash val="solid"/>
          </a:ln>
        </p:spPr>
      </p:sp>
      <p:sp>
        <p:nvSpPr>
          <p:cNvPr id="4" name="Deco triangle"/>
          <p:cNvSpPr/>
          <p:nvPr/>
        </p:nvSpPr>
        <p:spPr>
          <a:xfrm flipV="1">
            <a:off x="0" y="0"/>
            <a:ext cx="2011680" cy="1828800"/>
          </a:xfrm>
          <a:prstGeom prst="rtTriangle">
            <a:avLst/>
          </a:prstGeom>
          <a:solidFill>
            <a:srgbClr val="EDEDED"/>
          </a:solidFill>
          <a:ln w="12700">
            <a:solidFill>
              <a:srgbClr val="EDEDED"/>
            </a:solidFill>
            <a:prstDash val="solid"/>
          </a:ln>
        </p:spPr>
      </p:sp>
      <p:sp>
        <p:nvSpPr>
          <p:cNvPr id="5" name="Text 3"/>
          <p:cNvSpPr txBox="1"/>
          <p:nvPr/>
        </p:nvSpPr>
        <p:spPr>
          <a:xfrm>
            <a:off x="1097280" y="1554480"/>
            <a:ext cx="2743200" cy="1097280"/>
          </a:xfrm>
          <a:prstGeom prst="rect">
            <a:avLst/>
          </a:prstGeom>
          <a:noFill/>
          <a:ln/>
        </p:spPr>
        <p:txBody>
          <a:bodyPr wrap="square" lIns="0" tIns="0" rIns="0" bIns="0" rtlCol="0" anchor="ctr"/>
          <a:lstStyle/>
          <a:p>
            <a:pPr indent="0" marL="0">
              <a:buNone/>
            </a:pPr>
            <a:r>
              <a:rPr lang="en-US" sz="7200" b="1" dirty="0">
                <a:solidFill>
                  <a:srgbClr val="B08600"/>
                </a:solidFill>
              </a:rPr>
              <a:t>01</a:t>
            </a:r>
            <a:endParaRPr lang="en-US" sz="7200" dirty="0"/>
          </a:p>
        </p:txBody>
      </p:sp>
      <p:sp>
        <p:nvSpPr>
          <p:cNvPr id="6" name="Text 4"/>
          <p:cNvSpPr txBox="1"/>
          <p:nvPr/>
        </p:nvSpPr>
        <p:spPr>
          <a:xfrm>
            <a:off x="1097280" y="2697480"/>
            <a:ext cx="9144000" cy="914400"/>
          </a:xfrm>
          <a:prstGeom prst="rect">
            <a:avLst/>
          </a:prstGeom>
          <a:noFill/>
          <a:ln/>
        </p:spPr>
        <p:txBody>
          <a:bodyPr wrap="square" lIns="0" tIns="0" rIns="0" bIns="0" rtlCol="0" anchor="ctr"/>
          <a:lstStyle/>
          <a:p>
            <a:pPr indent="0" marL="0">
              <a:buNone/>
            </a:pPr>
            <a:r>
              <a:rPr lang="en-US" sz="5000" b="1" dirty="0">
                <a:solidFill>
                  <a:srgbClr val="262626"/>
                </a:solidFill>
              </a:rPr>
              <a:t>사이버보안 위험관리</a:t>
            </a:r>
            <a:endParaRPr lang="en-US" sz="5000" dirty="0"/>
          </a:p>
        </p:txBody>
      </p:sp>
      <p:sp>
        <p:nvSpPr>
          <p:cNvPr id="7" name="Shape 5"/>
          <p:cNvSpPr/>
          <p:nvPr/>
        </p:nvSpPr>
        <p:spPr>
          <a:xfrm>
            <a:off x="1097280" y="3749040"/>
            <a:ext cx="5669280" cy="0"/>
          </a:xfrm>
          <a:prstGeom prst="line">
            <a:avLst/>
          </a:prstGeom>
          <a:noFill/>
          <a:ln w="38100">
            <a:solidFill>
              <a:srgbClr val="B08600"/>
            </a:solidFill>
            <a:prstDash val="solid"/>
          </a:ln>
        </p:spPr>
      </p:sp>
      <p:sp>
        <p:nvSpPr>
          <p:cNvPr id="8" name="Text 6"/>
          <p:cNvSpPr txBox="1"/>
          <p:nvPr/>
        </p:nvSpPr>
        <p:spPr>
          <a:xfrm>
            <a:off x="1097280" y="3931920"/>
            <a:ext cx="8229600" cy="548640"/>
          </a:xfrm>
          <a:prstGeom prst="rect">
            <a:avLst/>
          </a:prstGeom>
          <a:noFill/>
          <a:ln/>
        </p:spPr>
        <p:txBody>
          <a:bodyPr wrap="square" lIns="0" tIns="0" rIns="0" bIns="0" rtlCol="0" anchor="ctr"/>
          <a:lstStyle/>
          <a:p>
            <a:pPr indent="0" marL="0">
              <a:buNone/>
            </a:pPr>
            <a:r>
              <a:rPr lang="en-US" sz="2000" dirty="0">
                <a:solidFill>
                  <a:srgbClr val="44546A"/>
                </a:solidFill>
              </a:rPr>
              <a:t>Security Risk Management — 안전(safety)과 보안(security)의 통합 평가</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tag"/>
          <p:cNvSpPr txBox="1"/>
          <p:nvPr/>
        </p:nvSpPr>
        <p:spPr>
          <a:xfrm>
            <a:off x="457200" y="365760"/>
            <a:ext cx="3840480" cy="548640"/>
          </a:xfrm>
          <a:prstGeom prst="roundRect">
            <a:avLst>
              <a:gd name="adj" fmla="val 46667"/>
            </a:avLst>
          </a:prstGeom>
          <a:solidFill>
            <a:srgbClr val="44546A"/>
          </a:solidFill>
          <a:ln>
            <a:solidFill>
              <a:srgbClr val="44546A"/>
            </a:solidFill>
          </a:ln>
        </p:spPr>
        <p:txBody>
          <a:bodyPr wrap="square" rtlCol="0" anchor="ctr"/>
          <a:lstStyle/>
          <a:p>
            <a:pPr algn="ctr" indent="0" marL="0">
              <a:buNone/>
            </a:pPr>
            <a:r>
              <a:rPr lang="en-US" sz="2000" b="1" dirty="0">
                <a:solidFill>
                  <a:srgbClr val="FFFFFF"/>
                </a:solidFill>
              </a:rPr>
              <a:t>규격 프레임</a:t>
            </a:r>
            <a:endParaRPr lang="en-US" sz="2000" dirty="0"/>
          </a:p>
        </p:txBody>
      </p:sp>
      <p:sp>
        <p:nvSpPr>
          <p:cNvPr id="3" name="Purpose label"/>
          <p:cNvSpPr txBox="1"/>
          <p:nvPr/>
        </p:nvSpPr>
        <p:spPr>
          <a:xfrm>
            <a:off x="457200" y="1188720"/>
            <a:ext cx="1005840" cy="1051560"/>
          </a:xfrm>
          <a:prstGeom prst="roundRect">
            <a:avLst>
              <a:gd name="adj" fmla="val 10909"/>
            </a:avLst>
          </a:prstGeom>
          <a:solidFill>
            <a:srgbClr val="77AE26"/>
          </a:solidFill>
          <a:ln>
            <a:solidFill>
              <a:srgbClr val="77AE26"/>
            </a:solidFill>
          </a:ln>
        </p:spPr>
        <p:txBody>
          <a:bodyPr wrap="square" rtlCol="0" anchor="ctr"/>
          <a:lstStyle/>
          <a:p>
            <a:pPr algn="ctr" indent="0" marL="0">
              <a:buNone/>
            </a:pPr>
            <a:r>
              <a:rPr lang="en-US" sz="1600" b="1" dirty="0">
                <a:solidFill>
                  <a:srgbClr val="FFFFFF"/>
                </a:solidFill>
              </a:rPr>
              <a:t>목적</a:t>
            </a:r>
            <a:endParaRPr lang="en-US" sz="1600" dirty="0"/>
          </a:p>
        </p:txBody>
      </p:sp>
      <p:sp>
        <p:nvSpPr>
          <p:cNvPr id="4" name="Purpose box"/>
          <p:cNvSpPr txBox="1"/>
          <p:nvPr/>
        </p:nvSpPr>
        <p:spPr>
          <a:xfrm>
            <a:off x="1600200" y="1188720"/>
            <a:ext cx="10131552" cy="1051560"/>
          </a:xfrm>
          <a:prstGeom prst="roundRect">
            <a:avLst>
              <a:gd name="adj" fmla="val 10435"/>
            </a:avLst>
          </a:prstGeom>
          <a:solidFill>
            <a:srgbClr val="E5F4CE"/>
          </a:solidFill>
          <a:ln>
            <a:solidFill>
              <a:srgbClr val="E5F4CE"/>
            </a:solidFill>
          </a:ln>
        </p:spPr>
        <p:txBody>
          <a:bodyPr wrap="square" lIns="50800" tIns="177800" rIns="177800" bIns="50800" rtlCol="0" anchor="ctr"/>
          <a:lstStyle/>
          <a:p>
            <a:pPr algn="l" indent="0" marL="0">
              <a:buNone/>
            </a:pPr>
            <a:r>
              <a:rPr lang="en-US" sz="1600" dirty="0">
                <a:solidFill>
                  <a:srgbClr val="262626"/>
                </a:solidFill>
              </a:rPr>
              <a:t>보안 위험에는 보안 특화 분석 방법을 쓰되, 하나의 위험관리 체계 안에서 안전 위험관리와 양방향으로 연계한다. 보안 위험이 안전이나 유효성에 영향을 주면 안전 위험평가에 포함한다.</a:t>
            </a:r>
            <a:endParaRPr lang="en-US" sz="1600" dirty="0"/>
          </a:p>
        </p:txBody>
      </p:sp>
      <p:sp>
        <p:nvSpPr>
          <p:cNvPr id="5" name="Lane header"/>
          <p:cNvSpPr txBox="1"/>
          <p:nvPr/>
        </p:nvSpPr>
        <p:spPr>
          <a:xfrm>
            <a:off x="457200" y="2468880"/>
            <a:ext cx="4389120" cy="566928"/>
          </a:xfrm>
          <a:prstGeom prst="roundRect">
            <a:avLst>
              <a:gd name="adj" fmla="val 16129"/>
            </a:avLst>
          </a:prstGeom>
          <a:solidFill>
            <a:srgbClr val="44546A"/>
          </a:solidFill>
          <a:ln>
            <a:solidFill>
              <a:srgbClr val="44546A"/>
            </a:solidFill>
          </a:ln>
        </p:spPr>
        <p:txBody>
          <a:bodyPr wrap="square" lIns="38100" tIns="101600" rIns="101600" bIns="38100" rtlCol="0" anchor="ctr"/>
          <a:lstStyle/>
          <a:p>
            <a:pPr algn="ctr" indent="0" marL="0">
              <a:buNone/>
            </a:pPr>
            <a:r>
              <a:rPr lang="en-US" sz="1400" b="1" dirty="0">
                <a:solidFill>
                  <a:srgbClr val="FFFFFF"/>
                </a:solidFill>
              </a:rPr>
              <a:t>보안 위험관리</a:t>
            </a:r>
            <a:endParaRPr lang="en-US" sz="1400" dirty="0"/>
          </a:p>
          <a:p>
            <a:pPr algn="ctr" indent="0" marL="0">
              <a:buNone/>
            </a:pPr>
            <a:r>
              <a:rPr lang="en-US" sz="1400" b="1" dirty="0">
                <a:solidFill>
                  <a:srgbClr val="FFFFFF"/>
                </a:solidFill>
              </a:rPr>
              <a:t>AAMI TIR57:2016/(R)2023</a:t>
            </a:r>
            <a:endParaRPr lang="en-US" sz="1400" dirty="0"/>
          </a:p>
        </p:txBody>
      </p:sp>
      <p:sp>
        <p:nvSpPr>
          <p:cNvPr id="6" name="Lane step"/>
          <p:cNvSpPr txBox="1"/>
          <p:nvPr/>
        </p:nvSpPr>
        <p:spPr>
          <a:xfrm>
            <a:off x="822960" y="3154680"/>
            <a:ext cx="3657600" cy="530352"/>
          </a:xfrm>
          <a:prstGeom prst="roundRect">
            <a:avLst>
              <a:gd name="adj" fmla="val 17241"/>
            </a:avLst>
          </a:prstGeom>
          <a:solidFill>
            <a:srgbClr val="FFFFFF"/>
          </a:solidFill>
          <a:ln w="12700">
            <a:solidFill>
              <a:srgbClr val="44546A"/>
            </a:solidFill>
          </a:ln>
        </p:spPr>
        <p:txBody>
          <a:bodyPr wrap="square" lIns="38100" tIns="101600" rIns="101600" bIns="38100" rtlCol="0" anchor="ctr"/>
          <a:lstStyle/>
          <a:p>
            <a:pPr algn="ctr" indent="0" marL="0">
              <a:buNone/>
            </a:pPr>
            <a:r>
              <a:rPr lang="en-US" sz="1400" dirty="0">
                <a:solidFill>
                  <a:srgbClr val="262626"/>
                </a:solidFill>
              </a:rPr>
              <a:t>자산(asset) 식별</a:t>
            </a:r>
            <a:endParaRPr lang="en-US" sz="1400" dirty="0"/>
          </a:p>
        </p:txBody>
      </p:sp>
      <p:sp>
        <p:nvSpPr>
          <p:cNvPr id="7" name="Shape 5"/>
          <p:cNvSpPr/>
          <p:nvPr/>
        </p:nvSpPr>
        <p:spPr>
          <a:xfrm>
            <a:off x="2651760" y="3685032"/>
            <a:ext cx="0" cy="182880"/>
          </a:xfrm>
          <a:prstGeom prst="line">
            <a:avLst/>
          </a:prstGeom>
          <a:noFill/>
          <a:ln w="25400">
            <a:solidFill>
              <a:srgbClr val="44546A"/>
            </a:solidFill>
            <a:prstDash val="solid"/>
            <a:tailEnd type="triangle"/>
          </a:ln>
        </p:spPr>
      </p:sp>
      <p:sp>
        <p:nvSpPr>
          <p:cNvPr id="8" name="Lane step"/>
          <p:cNvSpPr txBox="1"/>
          <p:nvPr/>
        </p:nvSpPr>
        <p:spPr>
          <a:xfrm>
            <a:off x="822960" y="3867912"/>
            <a:ext cx="3657600" cy="530352"/>
          </a:xfrm>
          <a:prstGeom prst="roundRect">
            <a:avLst>
              <a:gd name="adj" fmla="val 17241"/>
            </a:avLst>
          </a:prstGeom>
          <a:solidFill>
            <a:srgbClr val="FFFFFF"/>
          </a:solidFill>
          <a:ln w="12700">
            <a:solidFill>
              <a:srgbClr val="44546A"/>
            </a:solidFill>
          </a:ln>
        </p:spPr>
        <p:txBody>
          <a:bodyPr wrap="square" lIns="38100" tIns="101600" rIns="101600" bIns="38100" rtlCol="0" anchor="ctr"/>
          <a:lstStyle/>
          <a:p>
            <a:pPr algn="ctr" indent="0" marL="0">
              <a:buNone/>
            </a:pPr>
            <a:r>
              <a:rPr lang="en-US" sz="1400" dirty="0">
                <a:solidFill>
                  <a:srgbClr val="262626"/>
                </a:solidFill>
              </a:rPr>
              <a:t>위협(threat)·취약점(vulnerability) 분석</a:t>
            </a:r>
            <a:endParaRPr lang="en-US" sz="1400" dirty="0"/>
          </a:p>
        </p:txBody>
      </p:sp>
      <p:sp>
        <p:nvSpPr>
          <p:cNvPr id="9" name="Shape 7"/>
          <p:cNvSpPr/>
          <p:nvPr/>
        </p:nvSpPr>
        <p:spPr>
          <a:xfrm>
            <a:off x="2651760" y="4398264"/>
            <a:ext cx="0" cy="182880"/>
          </a:xfrm>
          <a:prstGeom prst="line">
            <a:avLst/>
          </a:prstGeom>
          <a:noFill/>
          <a:ln w="25400">
            <a:solidFill>
              <a:srgbClr val="44546A"/>
            </a:solidFill>
            <a:prstDash val="solid"/>
            <a:tailEnd type="triangle"/>
          </a:ln>
        </p:spPr>
      </p:sp>
      <p:sp>
        <p:nvSpPr>
          <p:cNvPr id="10" name="Lane step"/>
          <p:cNvSpPr txBox="1"/>
          <p:nvPr/>
        </p:nvSpPr>
        <p:spPr>
          <a:xfrm>
            <a:off x="822960" y="4581144"/>
            <a:ext cx="3657600" cy="530352"/>
          </a:xfrm>
          <a:prstGeom prst="roundRect">
            <a:avLst>
              <a:gd name="adj" fmla="val 17241"/>
            </a:avLst>
          </a:prstGeom>
          <a:solidFill>
            <a:srgbClr val="FFFFFF"/>
          </a:solidFill>
          <a:ln w="12700">
            <a:solidFill>
              <a:srgbClr val="44546A"/>
            </a:solidFill>
          </a:ln>
        </p:spPr>
        <p:txBody>
          <a:bodyPr wrap="square" lIns="38100" tIns="101600" rIns="101600" bIns="38100" rtlCol="0" anchor="ctr"/>
          <a:lstStyle/>
          <a:p>
            <a:pPr algn="ctr" indent="0" marL="0">
              <a:buNone/>
            </a:pPr>
            <a:r>
              <a:rPr lang="en-US" sz="1400" dirty="0">
                <a:solidFill>
                  <a:srgbClr val="262626"/>
                </a:solidFill>
              </a:rPr>
              <a:t>보안 위험평가</a:t>
            </a:r>
            <a:endParaRPr lang="en-US" sz="1400" dirty="0"/>
          </a:p>
        </p:txBody>
      </p:sp>
      <p:sp>
        <p:nvSpPr>
          <p:cNvPr id="11" name="Shape 9"/>
          <p:cNvSpPr/>
          <p:nvPr/>
        </p:nvSpPr>
        <p:spPr>
          <a:xfrm>
            <a:off x="2651760" y="5111496"/>
            <a:ext cx="0" cy="182880"/>
          </a:xfrm>
          <a:prstGeom prst="line">
            <a:avLst/>
          </a:prstGeom>
          <a:noFill/>
          <a:ln w="25400">
            <a:solidFill>
              <a:srgbClr val="44546A"/>
            </a:solidFill>
            <a:prstDash val="solid"/>
            <a:tailEnd type="triangle"/>
          </a:ln>
        </p:spPr>
      </p:sp>
      <p:sp>
        <p:nvSpPr>
          <p:cNvPr id="12" name="Lane step"/>
          <p:cNvSpPr txBox="1"/>
          <p:nvPr/>
        </p:nvSpPr>
        <p:spPr>
          <a:xfrm>
            <a:off x="822960" y="5294376"/>
            <a:ext cx="3657600" cy="530352"/>
          </a:xfrm>
          <a:prstGeom prst="roundRect">
            <a:avLst>
              <a:gd name="adj" fmla="val 17241"/>
            </a:avLst>
          </a:prstGeom>
          <a:solidFill>
            <a:srgbClr val="FFFFFF"/>
          </a:solidFill>
          <a:ln w="12700">
            <a:solidFill>
              <a:srgbClr val="44546A"/>
            </a:solidFill>
          </a:ln>
        </p:spPr>
        <p:txBody>
          <a:bodyPr wrap="square" lIns="38100" tIns="101600" rIns="101600" bIns="38100" rtlCol="0" anchor="ctr"/>
          <a:lstStyle/>
          <a:p>
            <a:pPr algn="ctr" indent="0" marL="0">
              <a:buNone/>
            </a:pPr>
            <a:r>
              <a:rPr lang="en-US" sz="1400" dirty="0">
                <a:solidFill>
                  <a:srgbClr val="262626"/>
                </a:solidFill>
              </a:rPr>
              <a:t>보안 통제(security control)</a:t>
            </a:r>
            <a:endParaRPr lang="en-US" sz="1400" dirty="0"/>
          </a:p>
        </p:txBody>
      </p:sp>
      <p:sp>
        <p:nvSpPr>
          <p:cNvPr id="13" name="Lane header"/>
          <p:cNvSpPr txBox="1"/>
          <p:nvPr/>
        </p:nvSpPr>
        <p:spPr>
          <a:xfrm>
            <a:off x="7342632" y="2468880"/>
            <a:ext cx="4389120" cy="566928"/>
          </a:xfrm>
          <a:prstGeom prst="roundRect">
            <a:avLst>
              <a:gd name="adj" fmla="val 16129"/>
            </a:avLst>
          </a:prstGeom>
          <a:solidFill>
            <a:srgbClr val="44546A"/>
          </a:solidFill>
          <a:ln>
            <a:solidFill>
              <a:srgbClr val="44546A"/>
            </a:solidFill>
          </a:ln>
        </p:spPr>
        <p:txBody>
          <a:bodyPr wrap="square" lIns="38100" tIns="101600" rIns="101600" bIns="38100" rtlCol="0" anchor="ctr"/>
          <a:lstStyle/>
          <a:p>
            <a:pPr algn="ctr" indent="0" marL="0">
              <a:buNone/>
            </a:pPr>
            <a:r>
              <a:rPr lang="en-US" sz="1400" b="1" dirty="0">
                <a:solidFill>
                  <a:srgbClr val="FFFFFF"/>
                </a:solidFill>
              </a:rPr>
              <a:t>안전 위험관리</a:t>
            </a:r>
            <a:endParaRPr lang="en-US" sz="1400" dirty="0"/>
          </a:p>
          <a:p>
            <a:pPr algn="ctr" indent="0" marL="0">
              <a:buNone/>
            </a:pPr>
            <a:r>
              <a:rPr lang="en-US" sz="1400" b="1" dirty="0">
                <a:solidFill>
                  <a:srgbClr val="FFFFFF"/>
                </a:solidFill>
              </a:rPr>
              <a:t>ISO 14971:2019</a:t>
            </a:r>
            <a:endParaRPr lang="en-US" sz="1400" dirty="0"/>
          </a:p>
        </p:txBody>
      </p:sp>
      <p:sp>
        <p:nvSpPr>
          <p:cNvPr id="14" name="Lane step"/>
          <p:cNvSpPr txBox="1"/>
          <p:nvPr/>
        </p:nvSpPr>
        <p:spPr>
          <a:xfrm>
            <a:off x="7708392" y="3154680"/>
            <a:ext cx="3657600" cy="530352"/>
          </a:xfrm>
          <a:prstGeom prst="roundRect">
            <a:avLst>
              <a:gd name="adj" fmla="val 17241"/>
            </a:avLst>
          </a:prstGeom>
          <a:solidFill>
            <a:srgbClr val="FFFFFF"/>
          </a:solidFill>
          <a:ln w="12700">
            <a:solidFill>
              <a:srgbClr val="44546A"/>
            </a:solidFill>
          </a:ln>
        </p:spPr>
        <p:txBody>
          <a:bodyPr wrap="square" lIns="38100" tIns="101600" rIns="101600" bIns="38100" rtlCol="0" anchor="ctr"/>
          <a:lstStyle/>
          <a:p>
            <a:pPr algn="ctr" indent="0" marL="0">
              <a:buNone/>
            </a:pPr>
            <a:r>
              <a:rPr lang="en-US" sz="1400" dirty="0">
                <a:solidFill>
                  <a:srgbClr val="262626"/>
                </a:solidFill>
              </a:rPr>
              <a:t>위험원(hazard) 식별</a:t>
            </a:r>
            <a:endParaRPr lang="en-US" sz="1400" dirty="0"/>
          </a:p>
        </p:txBody>
      </p:sp>
      <p:sp>
        <p:nvSpPr>
          <p:cNvPr id="15" name="Shape 13"/>
          <p:cNvSpPr/>
          <p:nvPr/>
        </p:nvSpPr>
        <p:spPr>
          <a:xfrm>
            <a:off x="9537192" y="3685032"/>
            <a:ext cx="0" cy="182880"/>
          </a:xfrm>
          <a:prstGeom prst="line">
            <a:avLst/>
          </a:prstGeom>
          <a:noFill/>
          <a:ln w="25400">
            <a:solidFill>
              <a:srgbClr val="44546A"/>
            </a:solidFill>
            <a:prstDash val="solid"/>
            <a:tailEnd type="triangle"/>
          </a:ln>
        </p:spPr>
      </p:sp>
      <p:sp>
        <p:nvSpPr>
          <p:cNvPr id="16" name="Lane step"/>
          <p:cNvSpPr txBox="1"/>
          <p:nvPr/>
        </p:nvSpPr>
        <p:spPr>
          <a:xfrm>
            <a:off x="7708392" y="3867912"/>
            <a:ext cx="3657600" cy="530352"/>
          </a:xfrm>
          <a:prstGeom prst="roundRect">
            <a:avLst>
              <a:gd name="adj" fmla="val 17241"/>
            </a:avLst>
          </a:prstGeom>
          <a:solidFill>
            <a:srgbClr val="FFFFFF"/>
          </a:solidFill>
          <a:ln w="12700">
            <a:solidFill>
              <a:srgbClr val="44546A"/>
            </a:solidFill>
          </a:ln>
        </p:spPr>
        <p:txBody>
          <a:bodyPr wrap="square" lIns="38100" tIns="101600" rIns="101600" bIns="38100" rtlCol="0" anchor="ctr"/>
          <a:lstStyle/>
          <a:p>
            <a:pPr algn="ctr" indent="0" marL="0">
              <a:buNone/>
            </a:pPr>
            <a:r>
              <a:rPr lang="en-US" sz="1400" dirty="0">
                <a:solidFill>
                  <a:srgbClr val="262626"/>
                </a:solidFill>
              </a:rPr>
              <a:t>위해상황(hazardous situation) 분석</a:t>
            </a:r>
            <a:endParaRPr lang="en-US" sz="1400" dirty="0"/>
          </a:p>
        </p:txBody>
      </p:sp>
      <p:sp>
        <p:nvSpPr>
          <p:cNvPr id="17" name="Shape 15"/>
          <p:cNvSpPr/>
          <p:nvPr/>
        </p:nvSpPr>
        <p:spPr>
          <a:xfrm>
            <a:off x="9537192" y="4398264"/>
            <a:ext cx="0" cy="182880"/>
          </a:xfrm>
          <a:prstGeom prst="line">
            <a:avLst/>
          </a:prstGeom>
          <a:noFill/>
          <a:ln w="25400">
            <a:solidFill>
              <a:srgbClr val="44546A"/>
            </a:solidFill>
            <a:prstDash val="solid"/>
            <a:tailEnd type="triangle"/>
          </a:ln>
        </p:spPr>
      </p:sp>
      <p:sp>
        <p:nvSpPr>
          <p:cNvPr id="18" name="Lane step"/>
          <p:cNvSpPr txBox="1"/>
          <p:nvPr/>
        </p:nvSpPr>
        <p:spPr>
          <a:xfrm>
            <a:off x="7708392" y="4581144"/>
            <a:ext cx="3657600" cy="530352"/>
          </a:xfrm>
          <a:prstGeom prst="roundRect">
            <a:avLst>
              <a:gd name="adj" fmla="val 17241"/>
            </a:avLst>
          </a:prstGeom>
          <a:solidFill>
            <a:srgbClr val="FFFFFF"/>
          </a:solidFill>
          <a:ln w="12700">
            <a:solidFill>
              <a:srgbClr val="44546A"/>
            </a:solidFill>
          </a:ln>
        </p:spPr>
        <p:txBody>
          <a:bodyPr wrap="square" lIns="38100" tIns="101600" rIns="101600" bIns="38100" rtlCol="0" anchor="ctr"/>
          <a:lstStyle/>
          <a:p>
            <a:pPr algn="ctr" indent="0" marL="0">
              <a:buNone/>
            </a:pPr>
            <a:r>
              <a:rPr lang="en-US" sz="1400" dirty="0">
                <a:solidFill>
                  <a:srgbClr val="262626"/>
                </a:solidFill>
              </a:rPr>
              <a:t>위험평가</a:t>
            </a:r>
            <a:endParaRPr lang="en-US" sz="1400" dirty="0"/>
          </a:p>
        </p:txBody>
      </p:sp>
      <p:sp>
        <p:nvSpPr>
          <p:cNvPr id="19" name="Shape 17"/>
          <p:cNvSpPr/>
          <p:nvPr/>
        </p:nvSpPr>
        <p:spPr>
          <a:xfrm>
            <a:off x="9537192" y="5111496"/>
            <a:ext cx="0" cy="182880"/>
          </a:xfrm>
          <a:prstGeom prst="line">
            <a:avLst/>
          </a:prstGeom>
          <a:noFill/>
          <a:ln w="25400">
            <a:solidFill>
              <a:srgbClr val="44546A"/>
            </a:solidFill>
            <a:prstDash val="solid"/>
            <a:tailEnd type="triangle"/>
          </a:ln>
        </p:spPr>
      </p:sp>
      <p:sp>
        <p:nvSpPr>
          <p:cNvPr id="20" name="Lane step"/>
          <p:cNvSpPr txBox="1"/>
          <p:nvPr/>
        </p:nvSpPr>
        <p:spPr>
          <a:xfrm>
            <a:off x="7708392" y="5294376"/>
            <a:ext cx="3657600" cy="530352"/>
          </a:xfrm>
          <a:prstGeom prst="roundRect">
            <a:avLst>
              <a:gd name="adj" fmla="val 17241"/>
            </a:avLst>
          </a:prstGeom>
          <a:solidFill>
            <a:srgbClr val="FFFFFF"/>
          </a:solidFill>
          <a:ln w="12700">
            <a:solidFill>
              <a:srgbClr val="44546A"/>
            </a:solidFill>
          </a:ln>
        </p:spPr>
        <p:txBody>
          <a:bodyPr wrap="square" lIns="38100" tIns="101600" rIns="101600" bIns="38100" rtlCol="0" anchor="ctr"/>
          <a:lstStyle/>
          <a:p>
            <a:pPr algn="ctr" indent="0" marL="0">
              <a:buNone/>
            </a:pPr>
            <a:r>
              <a:rPr lang="en-US" sz="1400" dirty="0">
                <a:solidFill>
                  <a:srgbClr val="262626"/>
                </a:solidFill>
              </a:rPr>
              <a:t>위험 통제(risk control)</a:t>
            </a:r>
            <a:endParaRPr lang="en-US" sz="1400" dirty="0"/>
          </a:p>
        </p:txBody>
      </p:sp>
      <p:sp>
        <p:nvSpPr>
          <p:cNvPr id="21" name="Link header"/>
          <p:cNvSpPr txBox="1"/>
          <p:nvPr/>
        </p:nvSpPr>
        <p:spPr>
          <a:xfrm>
            <a:off x="5029200" y="2468880"/>
            <a:ext cx="2130552" cy="566928"/>
          </a:xfrm>
          <a:prstGeom prst="roundRect">
            <a:avLst>
              <a:gd name="adj" fmla="val 16129"/>
            </a:avLst>
          </a:prstGeom>
          <a:solidFill>
            <a:srgbClr val="77AE26"/>
          </a:solidFill>
          <a:ln>
            <a:solidFill>
              <a:srgbClr val="77AE26"/>
            </a:solidFill>
          </a:ln>
        </p:spPr>
        <p:txBody>
          <a:bodyPr wrap="square" lIns="38100" tIns="101600" rIns="101600" bIns="38100" rtlCol="0" anchor="ctr"/>
          <a:lstStyle/>
          <a:p>
            <a:pPr algn="ctr" indent="0" marL="0">
              <a:buNone/>
            </a:pPr>
            <a:r>
              <a:rPr lang="en-US" sz="1300" b="1" dirty="0">
                <a:solidFill>
                  <a:srgbClr val="FFFFFF"/>
                </a:solidFill>
              </a:rPr>
              <a:t>MDCG 2019-16 Rev.1</a:t>
            </a:r>
            <a:endParaRPr lang="en-US" sz="1300" dirty="0"/>
          </a:p>
          <a:p>
            <a:pPr algn="ctr" indent="0" marL="0">
              <a:buNone/>
            </a:pPr>
            <a:r>
              <a:rPr lang="en-US" sz="1300" b="1" dirty="0">
                <a:solidFill>
                  <a:srgbClr val="FFFFFF"/>
                </a:solidFill>
              </a:rPr>
              <a:t>§3.2 · 부록 IV</a:t>
            </a:r>
            <a:endParaRPr lang="en-US" sz="1300" dirty="0"/>
          </a:p>
        </p:txBody>
      </p:sp>
      <p:sp>
        <p:nvSpPr>
          <p:cNvPr id="22" name="Shape 20"/>
          <p:cNvSpPr/>
          <p:nvPr/>
        </p:nvSpPr>
        <p:spPr>
          <a:xfrm>
            <a:off x="4480560" y="4846320"/>
            <a:ext cx="3227832" cy="0"/>
          </a:xfrm>
          <a:prstGeom prst="line">
            <a:avLst/>
          </a:prstGeom>
          <a:noFill/>
          <a:ln w="25400">
            <a:solidFill>
              <a:srgbClr val="B08600"/>
            </a:solidFill>
            <a:prstDash val="solid"/>
            <a:tailEnd type="triangle"/>
          </a:ln>
        </p:spPr>
      </p:sp>
      <p:sp>
        <p:nvSpPr>
          <p:cNvPr id="23" name="Text 21"/>
          <p:cNvSpPr txBox="1"/>
          <p:nvPr/>
        </p:nvSpPr>
        <p:spPr>
          <a:xfrm>
            <a:off x="4937760" y="4187952"/>
            <a:ext cx="2313432" cy="566928"/>
          </a:xfrm>
          <a:prstGeom prst="rect">
            <a:avLst/>
          </a:prstGeom>
          <a:noFill/>
          <a:ln/>
        </p:spPr>
        <p:txBody>
          <a:bodyPr wrap="square" lIns="0" tIns="0" rIns="0" bIns="0" rtlCol="0" anchor="b"/>
          <a:lstStyle/>
          <a:p>
            <a:pPr algn="ctr" indent="0" marL="0">
              <a:buNone/>
            </a:pPr>
            <a:r>
              <a:rPr lang="en-US" sz="1200" dirty="0">
                <a:solidFill>
                  <a:srgbClr val="262626"/>
                </a:solidFill>
              </a:rPr>
              <a:t>안전·유효성 영향이 있으면</a:t>
            </a:r>
            <a:endParaRPr lang="en-US" sz="1200" dirty="0"/>
          </a:p>
          <a:p>
            <a:pPr algn="ctr" indent="0" marL="0">
              <a:buNone/>
            </a:pPr>
            <a:r>
              <a:rPr lang="en-US" sz="1200" dirty="0">
                <a:solidFill>
                  <a:srgbClr val="262626"/>
                </a:solidFill>
              </a:rPr>
              <a:t>안전 위험평가에 포함</a:t>
            </a:r>
            <a:endParaRPr lang="en-US" sz="1200" dirty="0"/>
          </a:p>
        </p:txBody>
      </p:sp>
      <p:sp>
        <p:nvSpPr>
          <p:cNvPr id="24" name="Shape 22"/>
          <p:cNvSpPr/>
          <p:nvPr/>
        </p:nvSpPr>
        <p:spPr>
          <a:xfrm flipH="1">
            <a:off x="4480560" y="5559552"/>
            <a:ext cx="3227832" cy="0"/>
          </a:xfrm>
          <a:prstGeom prst="line">
            <a:avLst/>
          </a:prstGeom>
          <a:noFill/>
          <a:ln w="25400">
            <a:solidFill>
              <a:srgbClr val="B08600"/>
            </a:solidFill>
            <a:prstDash val="solid"/>
            <a:tailEnd type="triangle"/>
          </a:ln>
        </p:spPr>
      </p:sp>
      <p:sp>
        <p:nvSpPr>
          <p:cNvPr id="25" name="Text 23"/>
          <p:cNvSpPr txBox="1"/>
          <p:nvPr/>
        </p:nvSpPr>
        <p:spPr>
          <a:xfrm>
            <a:off x="4937760" y="5010912"/>
            <a:ext cx="2313432" cy="475488"/>
          </a:xfrm>
          <a:prstGeom prst="rect">
            <a:avLst/>
          </a:prstGeom>
          <a:noFill/>
          <a:ln/>
        </p:spPr>
        <p:txBody>
          <a:bodyPr wrap="square" lIns="0" tIns="0" rIns="0" bIns="0" rtlCol="0" anchor="b"/>
          <a:lstStyle/>
          <a:p>
            <a:pPr algn="ctr" indent="0" marL="0">
              <a:buNone/>
            </a:pPr>
            <a:r>
              <a:rPr lang="en-US" sz="1200" dirty="0">
                <a:solidFill>
                  <a:srgbClr val="262626"/>
                </a:solidFill>
              </a:rPr>
              <a:t>안전 통제의 보안 영향은</a:t>
            </a:r>
            <a:endParaRPr lang="en-US" sz="1200" dirty="0"/>
          </a:p>
          <a:p>
            <a:pPr algn="ctr" indent="0" marL="0">
              <a:buNone/>
            </a:pPr>
            <a:r>
              <a:rPr lang="en-US" sz="1200" dirty="0">
                <a:solidFill>
                  <a:srgbClr val="262626"/>
                </a:solidFill>
              </a:rPr>
              <a:t>보안 위험분석에 포함</a:t>
            </a:r>
            <a:endParaRPr lang="en-US" sz="1200" dirty="0"/>
          </a:p>
        </p:txBody>
      </p:sp>
      <p:sp>
        <p:nvSpPr>
          <p:cNvPr id="26" name="Text 24"/>
          <p:cNvSpPr txBox="1"/>
          <p:nvPr/>
        </p:nvSpPr>
        <p:spPr>
          <a:xfrm>
            <a:off x="457200" y="5989320"/>
            <a:ext cx="10607040" cy="502920"/>
          </a:xfrm>
          <a:prstGeom prst="rect">
            <a:avLst/>
          </a:prstGeom>
          <a:noFill/>
          <a:ln/>
        </p:spPr>
        <p:txBody>
          <a:bodyPr wrap="square" lIns="0" tIns="0" rIns="0" bIns="0" rtlCol="0" anchor="t"/>
          <a:lstStyle/>
          <a:p>
            <a:pPr indent="0" marL="0">
              <a:buNone/>
            </a:pPr>
            <a:r>
              <a:rPr lang="en-US" sz="1100" dirty="0">
                <a:solidFill>
                  <a:srgbClr val="7F7F7F"/>
                </a:solidFill>
              </a:rPr>
              <a:t>보조 참조: ISO/TR 24971:2020 부록 F(보안 관련 위험관리 지침) · EU MDR 부속서 I 17.2항(정보보안을 포함한 소프트웨어 수명주기 개발), 17.4항(하드웨어·IT 네트워크·IT 보안 최소 요구사항), 18.8항(능동기기의 무단 접근 방지)</a:t>
            </a:r>
            <a:endParaRPr lang="en-US" sz="11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Malgun Gothic"/>
                <a:ea typeface="Malgun Gothic"/>
                <a:cs typeface="Malgun Gothic"/>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tag"/>
          <p:cNvSpPr txBox="1"/>
          <p:nvPr/>
        </p:nvSpPr>
        <p:spPr>
          <a:xfrm>
            <a:off x="457200" y="365760"/>
            <a:ext cx="3840480" cy="548640"/>
          </a:xfrm>
          <a:prstGeom prst="roundRect">
            <a:avLst>
              <a:gd name="adj" fmla="val 46667"/>
            </a:avLst>
          </a:prstGeom>
          <a:solidFill>
            <a:srgbClr val="44546A"/>
          </a:solidFill>
          <a:ln>
            <a:solidFill>
              <a:srgbClr val="44546A"/>
            </a:solidFill>
          </a:ln>
        </p:spPr>
        <p:txBody>
          <a:bodyPr wrap="square" rtlCol="0" anchor="ctr"/>
          <a:lstStyle/>
          <a:p>
            <a:pPr algn="ctr" indent="0" marL="0">
              <a:buNone/>
            </a:pPr>
            <a:r>
              <a:rPr lang="en-US" sz="2000" b="1" dirty="0">
                <a:solidFill>
                  <a:srgbClr val="FFFFFF"/>
                </a:solidFill>
              </a:rPr>
              <a:t>통합 평가 매트릭스</a:t>
            </a:r>
            <a:endParaRPr lang="en-US" sz="2000" dirty="0"/>
          </a:p>
        </p:txBody>
      </p:sp>
      <p:sp>
        <p:nvSpPr>
          <p:cNvPr id="3" name="Purpose label"/>
          <p:cNvSpPr txBox="1"/>
          <p:nvPr/>
        </p:nvSpPr>
        <p:spPr>
          <a:xfrm>
            <a:off x="457200" y="1188720"/>
            <a:ext cx="1005840" cy="1051560"/>
          </a:xfrm>
          <a:prstGeom prst="roundRect">
            <a:avLst>
              <a:gd name="adj" fmla="val 10909"/>
            </a:avLst>
          </a:prstGeom>
          <a:solidFill>
            <a:srgbClr val="77AE26"/>
          </a:solidFill>
          <a:ln>
            <a:solidFill>
              <a:srgbClr val="77AE26"/>
            </a:solidFill>
          </a:ln>
        </p:spPr>
        <p:txBody>
          <a:bodyPr wrap="square" rtlCol="0" anchor="ctr"/>
          <a:lstStyle/>
          <a:p>
            <a:pPr algn="ctr" indent="0" marL="0">
              <a:buNone/>
            </a:pPr>
            <a:r>
              <a:rPr lang="en-US" sz="1600" b="1" dirty="0">
                <a:solidFill>
                  <a:srgbClr val="FFFFFF"/>
                </a:solidFill>
              </a:rPr>
              <a:t>목적</a:t>
            </a:r>
            <a:endParaRPr lang="en-US" sz="1600" dirty="0"/>
          </a:p>
        </p:txBody>
      </p:sp>
      <p:sp>
        <p:nvSpPr>
          <p:cNvPr id="4" name="Purpose box"/>
          <p:cNvSpPr txBox="1"/>
          <p:nvPr/>
        </p:nvSpPr>
        <p:spPr>
          <a:xfrm>
            <a:off x="1600200" y="1188720"/>
            <a:ext cx="10131552" cy="1051560"/>
          </a:xfrm>
          <a:prstGeom prst="roundRect">
            <a:avLst>
              <a:gd name="adj" fmla="val 10435"/>
            </a:avLst>
          </a:prstGeom>
          <a:solidFill>
            <a:srgbClr val="E5F4CE"/>
          </a:solidFill>
          <a:ln>
            <a:solidFill>
              <a:srgbClr val="E5F4CE"/>
            </a:solidFill>
          </a:ln>
        </p:spPr>
        <p:txBody>
          <a:bodyPr wrap="square" lIns="50800" tIns="177800" rIns="177800" bIns="50800" rtlCol="0" anchor="ctr"/>
          <a:lstStyle/>
          <a:p>
            <a:pPr algn="l" indent="0" marL="0">
              <a:buNone/>
            </a:pPr>
            <a:r>
              <a:rPr lang="en-US" sz="1600" dirty="0">
                <a:solidFill>
                  <a:srgbClr val="262626"/>
                </a:solidFill>
              </a:rPr>
              <a:t>보안 시나리오를 공격 가능성(exploitability)과 CIA 영향으로 먼저 평가한다. 안전·유효성에 영향을 주는 항목은 위해 경로를 분석해 공격 가능성과 위해 심각도(severity)의 조합으로 다시 판정한다.</a:t>
            </a:r>
            <a:endParaRPr lang="en-US" sz="1600" dirty="0"/>
          </a:p>
        </p:txBody>
      </p:sp>
      <p:sp>
        <p:nvSpPr>
          <p:cNvPr id="5" name="Step 1"/>
          <p:cNvSpPr txBox="1"/>
          <p:nvPr/>
        </p:nvSpPr>
        <p:spPr>
          <a:xfrm>
            <a:off x="457200" y="2514600"/>
            <a:ext cx="3017520" cy="868680"/>
          </a:xfrm>
          <a:prstGeom prst="roundRect">
            <a:avLst>
              <a:gd name="adj" fmla="val 10526"/>
            </a:avLst>
          </a:prstGeom>
          <a:solidFill>
            <a:srgbClr val="FFFFFF"/>
          </a:solidFill>
          <a:ln w="12700">
            <a:solidFill>
              <a:srgbClr val="44546A"/>
            </a:solidFill>
          </a:ln>
        </p:spPr>
        <p:txBody>
          <a:bodyPr wrap="square" lIns="38100" tIns="101600" rIns="101600" bIns="38100" rtlCol="0" anchor="ctr"/>
          <a:lstStyle/>
          <a:p>
            <a:pPr algn="ctr" indent="0" marL="0">
              <a:buNone/>
            </a:pPr>
            <a:r>
              <a:rPr lang="en-US" sz="1400" b="1" dirty="0">
                <a:solidFill>
                  <a:srgbClr val="262626"/>
                </a:solidFill>
              </a:rPr>
              <a:t>1단계 · 보안 평가</a:t>
            </a:r>
            <a:endParaRPr lang="en-US" sz="1400" dirty="0"/>
          </a:p>
          <a:p>
            <a:pPr algn="ctr" indent="0" marL="0">
              <a:buNone/>
            </a:pPr>
            <a:r>
              <a:rPr lang="en-US" sz="1400" dirty="0">
                <a:solidFill>
                  <a:srgbClr val="262626"/>
                </a:solidFill>
              </a:rPr>
              <a:t>공격 가능성과 기밀성·무결성·가용성(CIA) 영향의 조합</a:t>
            </a:r>
            <a:endParaRPr lang="en-US" sz="1400" dirty="0"/>
          </a:p>
        </p:txBody>
      </p:sp>
      <p:sp>
        <p:nvSpPr>
          <p:cNvPr id="6" name="Shape 4"/>
          <p:cNvSpPr/>
          <p:nvPr/>
        </p:nvSpPr>
        <p:spPr>
          <a:xfrm>
            <a:off x="1965960" y="3383280"/>
            <a:ext cx="0" cy="274320"/>
          </a:xfrm>
          <a:prstGeom prst="line">
            <a:avLst/>
          </a:prstGeom>
          <a:noFill/>
          <a:ln w="25400">
            <a:solidFill>
              <a:srgbClr val="44546A"/>
            </a:solidFill>
            <a:prstDash val="solid"/>
            <a:tailEnd type="triangle"/>
          </a:ln>
        </p:spPr>
      </p:sp>
      <p:sp>
        <p:nvSpPr>
          <p:cNvPr id="7" name="Decision"/>
          <p:cNvSpPr txBox="1"/>
          <p:nvPr/>
        </p:nvSpPr>
        <p:spPr>
          <a:xfrm>
            <a:off x="685800" y="3657600"/>
            <a:ext cx="2560320" cy="1097280"/>
          </a:xfrm>
          <a:prstGeom prst="diamond">
            <a:avLst/>
          </a:prstGeom>
          <a:solidFill>
            <a:srgbClr val="E5F4CE"/>
          </a:solidFill>
          <a:ln w="19050">
            <a:solidFill>
              <a:srgbClr val="77AE26"/>
            </a:solidFill>
          </a:ln>
        </p:spPr>
        <p:txBody>
          <a:bodyPr wrap="square" lIns="0" tIns="0" rIns="0" bIns="0" rtlCol="0" anchor="ctr"/>
          <a:lstStyle/>
          <a:p>
            <a:pPr algn="ctr" indent="0" marL="0">
              <a:buNone/>
            </a:pPr>
            <a:r>
              <a:rPr lang="en-US" sz="1300" b="1" dirty="0">
                <a:solidFill>
                  <a:srgbClr val="262626"/>
                </a:solidFill>
              </a:rPr>
              <a:t>안전 또는 유효성에</a:t>
            </a:r>
            <a:endParaRPr lang="en-US" sz="1300" dirty="0"/>
          </a:p>
          <a:p>
            <a:pPr algn="ctr" indent="0" marL="0">
              <a:buNone/>
            </a:pPr>
            <a:r>
              <a:rPr lang="en-US" sz="1300" b="1" dirty="0">
                <a:solidFill>
                  <a:srgbClr val="262626"/>
                </a:solidFill>
              </a:rPr>
              <a:t>영향이 있는가?</a:t>
            </a:r>
            <a:endParaRPr lang="en-US" sz="1300" dirty="0"/>
          </a:p>
        </p:txBody>
      </p:sp>
      <p:sp>
        <p:nvSpPr>
          <p:cNvPr id="8" name="Shape 6"/>
          <p:cNvSpPr/>
          <p:nvPr/>
        </p:nvSpPr>
        <p:spPr>
          <a:xfrm>
            <a:off x="3246120" y="4206240"/>
            <a:ext cx="548640" cy="0"/>
          </a:xfrm>
          <a:prstGeom prst="line">
            <a:avLst/>
          </a:prstGeom>
          <a:noFill/>
          <a:ln w="25400">
            <a:solidFill>
              <a:srgbClr val="44546A"/>
            </a:solidFill>
            <a:prstDash val="solid"/>
            <a:tailEnd type="triangle"/>
          </a:ln>
        </p:spPr>
      </p:sp>
      <p:sp>
        <p:nvSpPr>
          <p:cNvPr id="9" name="Text 7"/>
          <p:cNvSpPr txBox="1"/>
          <p:nvPr/>
        </p:nvSpPr>
        <p:spPr>
          <a:xfrm>
            <a:off x="3246120" y="3858768"/>
            <a:ext cx="594360" cy="274320"/>
          </a:xfrm>
          <a:prstGeom prst="rect">
            <a:avLst/>
          </a:prstGeom>
          <a:noFill/>
          <a:ln/>
        </p:spPr>
        <p:txBody>
          <a:bodyPr wrap="square" lIns="0" tIns="0" rIns="0" bIns="0" rtlCol="0" anchor="ctr"/>
          <a:lstStyle/>
          <a:p>
            <a:pPr algn="ctr" indent="0" marL="0">
              <a:buNone/>
            </a:pPr>
            <a:r>
              <a:rPr lang="en-US" sz="1100" dirty="0">
                <a:solidFill>
                  <a:srgbClr val="7F7F7F"/>
                </a:solidFill>
              </a:rPr>
              <a:t>아니오</a:t>
            </a:r>
            <a:endParaRPr lang="en-US" sz="1100" dirty="0"/>
          </a:p>
        </p:txBody>
      </p:sp>
      <p:sp>
        <p:nvSpPr>
          <p:cNvPr id="10" name="No branch"/>
          <p:cNvSpPr txBox="1"/>
          <p:nvPr/>
        </p:nvSpPr>
        <p:spPr>
          <a:xfrm>
            <a:off x="3794760" y="3776472"/>
            <a:ext cx="1600200" cy="868680"/>
          </a:xfrm>
          <a:prstGeom prst="roundRect">
            <a:avLst>
              <a:gd name="adj" fmla="val 10526"/>
            </a:avLst>
          </a:prstGeom>
          <a:solidFill>
            <a:srgbClr val="FFFFFF"/>
          </a:solidFill>
          <a:ln w="12700">
            <a:solidFill>
              <a:srgbClr val="7F7F7F"/>
            </a:solidFill>
          </a:ln>
        </p:spPr>
        <p:txBody>
          <a:bodyPr wrap="square" lIns="38100" tIns="101600" rIns="101600" bIns="38100" rtlCol="0" anchor="ctr"/>
          <a:lstStyle/>
          <a:p>
            <a:pPr algn="ctr" indent="0" marL="0">
              <a:buNone/>
            </a:pPr>
            <a:r>
              <a:rPr lang="en-US" sz="1200" dirty="0">
                <a:solidFill>
                  <a:srgbClr val="262626"/>
                </a:solidFill>
              </a:rPr>
              <a:t>보안 위험으로 관리함</a:t>
            </a:r>
            <a:endParaRPr lang="en-US" sz="1200" dirty="0"/>
          </a:p>
          <a:p>
            <a:pPr algn="ctr" indent="0" marL="0">
              <a:buNone/>
            </a:pPr>
            <a:r>
              <a:rPr lang="en-US" sz="1200" dirty="0">
                <a:solidFill>
                  <a:srgbClr val="262626"/>
                </a:solidFill>
              </a:rPr>
              <a:t>(위해 연결 여부는</a:t>
            </a:r>
            <a:endParaRPr lang="en-US" sz="1200" dirty="0"/>
          </a:p>
          <a:p>
            <a:pPr algn="ctr" indent="0" marL="0">
              <a:buNone/>
            </a:pPr>
            <a:r>
              <a:rPr lang="en-US" sz="1200" dirty="0">
                <a:solidFill>
                  <a:srgbClr val="262626"/>
                </a:solidFill>
              </a:rPr>
              <a:t>개별 판단함)</a:t>
            </a:r>
            <a:endParaRPr lang="en-US" sz="1200" dirty="0"/>
          </a:p>
        </p:txBody>
      </p:sp>
      <p:sp>
        <p:nvSpPr>
          <p:cNvPr id="11" name="Shape 9"/>
          <p:cNvSpPr/>
          <p:nvPr/>
        </p:nvSpPr>
        <p:spPr>
          <a:xfrm>
            <a:off x="1965960" y="4754880"/>
            <a:ext cx="0" cy="320040"/>
          </a:xfrm>
          <a:prstGeom prst="line">
            <a:avLst/>
          </a:prstGeom>
          <a:noFill/>
          <a:ln w="25400">
            <a:solidFill>
              <a:srgbClr val="44546A"/>
            </a:solidFill>
            <a:prstDash val="solid"/>
            <a:tailEnd type="triangle"/>
          </a:ln>
        </p:spPr>
      </p:sp>
      <p:sp>
        <p:nvSpPr>
          <p:cNvPr id="12" name="Text 10"/>
          <p:cNvSpPr txBox="1"/>
          <p:nvPr/>
        </p:nvSpPr>
        <p:spPr>
          <a:xfrm>
            <a:off x="2057400" y="4754880"/>
            <a:ext cx="365760" cy="274320"/>
          </a:xfrm>
          <a:prstGeom prst="rect">
            <a:avLst/>
          </a:prstGeom>
          <a:noFill/>
          <a:ln/>
        </p:spPr>
        <p:txBody>
          <a:bodyPr wrap="square" lIns="0" tIns="0" rIns="0" bIns="0" rtlCol="0" anchor="ctr"/>
          <a:lstStyle/>
          <a:p>
            <a:pPr indent="0" marL="0">
              <a:buNone/>
            </a:pPr>
            <a:r>
              <a:rPr lang="en-US" sz="1100" dirty="0">
                <a:solidFill>
                  <a:srgbClr val="7F7F7F"/>
                </a:solidFill>
              </a:rPr>
              <a:t>예</a:t>
            </a:r>
            <a:endParaRPr lang="en-US" sz="1100" dirty="0"/>
          </a:p>
        </p:txBody>
      </p:sp>
      <p:sp>
        <p:nvSpPr>
          <p:cNvPr id="13" name="Step 2"/>
          <p:cNvSpPr txBox="1"/>
          <p:nvPr/>
        </p:nvSpPr>
        <p:spPr>
          <a:xfrm>
            <a:off x="457200" y="5074920"/>
            <a:ext cx="3017520" cy="868680"/>
          </a:xfrm>
          <a:prstGeom prst="roundRect">
            <a:avLst>
              <a:gd name="adj" fmla="val 10526"/>
            </a:avLst>
          </a:prstGeom>
          <a:solidFill>
            <a:srgbClr val="44546A"/>
          </a:solidFill>
          <a:ln>
            <a:solidFill>
              <a:srgbClr val="44546A"/>
            </a:solidFill>
          </a:ln>
        </p:spPr>
        <p:txBody>
          <a:bodyPr wrap="square" lIns="38100" tIns="101600" rIns="101600" bIns="38100" rtlCol="0" anchor="ctr"/>
          <a:lstStyle/>
          <a:p>
            <a:pPr algn="ctr" indent="0" marL="0">
              <a:buNone/>
            </a:pPr>
            <a:r>
              <a:rPr lang="en-US" sz="1400" b="1" dirty="0">
                <a:solidFill>
                  <a:srgbClr val="FFFFFF"/>
                </a:solidFill>
              </a:rPr>
              <a:t>2단계 · 안전 평가</a:t>
            </a:r>
            <a:endParaRPr lang="en-US" sz="1400" dirty="0"/>
          </a:p>
          <a:p>
            <a:pPr algn="ctr" indent="0" marL="0">
              <a:buNone/>
            </a:pPr>
            <a:r>
              <a:rPr lang="en-US" sz="1400" dirty="0">
                <a:solidFill>
                  <a:srgbClr val="FFFFFF"/>
                </a:solidFill>
              </a:rPr>
              <a:t>위해 경로 분석 후 공격 가능성·심각도 조합으로 판정</a:t>
            </a:r>
            <a:endParaRPr lang="en-US" sz="1400" dirty="0"/>
          </a:p>
        </p:txBody>
      </p:sp>
      <p:graphicFrame>
        <p:nvGraphicFramePr>
          <p:cNvPr id="4" name="Risk matrix"/>
          <p:cNvGraphicFramePr>
            <a:graphicFrameLocks noGrp="1"/>
          </p:cNvGraphicFramePr>
          <p:nvPr>
            <p:extLst>
              <p:ext uri="{D42A27DB-BD31-4B8C-83A1-F6EECF244321}">
                <p14:modId xmlns:p14="http://schemas.microsoft.com/office/powerpoint/2010/main" val="1579011935"/>
              </p:ext>
            </p:extLst>
          </p:nvPr>
        </p:nvGraphicFramePr>
        <p:xfrm>
          <a:off x="5852160" y="2514600"/>
          <a:ext cx="5879592" cy="914400"/>
        </p:xfrm>
        <a:graphic>
          <a:graphicData uri="http://schemas.openxmlformats.org/drawingml/2006/table">
            <a:tbl>
              <a:tblPr/>
              <a:tblGrid>
                <a:gridCol w="2039112"/>
                <a:gridCol w="1280160"/>
                <a:gridCol w="1280160"/>
                <a:gridCol w="1280160"/>
              </a:tblGrid>
              <a:tr h="530352">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심각도 \ 공격 가능성</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낮음</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중간</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높음</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546A"/>
                    </a:solidFill>
                  </a:tcPr>
                </a:tc>
              </a:tr>
              <a:tr h="530352">
                <a:tc>
                  <a:txBody>
                    <a:bodyPr/>
                    <a:lstStyle/>
                    <a:p>
                      <a:pPr algn="l" indent="0" marL="0">
                        <a:buNone/>
                      </a:pPr>
                      <a:r>
                        <a:rPr lang="en-US" sz="1300" b="1" dirty="0">
                          <a:solidFill>
                            <a:srgbClr val="262626"/>
                          </a:solidFill>
                          <a:latin typeface="Malgun Gothic" pitchFamily="34" charset="0"/>
                          <a:ea typeface="Malgun Gothic" pitchFamily="34" charset="-122"/>
                          <a:cs typeface="Malgun Gothic" pitchFamily="34" charset="-120"/>
                        </a:rPr>
                        <a:t>치명(Catastrophic)</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추가 통제 검토</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699"/>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허용 불가</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C7C3"/>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허용 불가</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C7C3"/>
                    </a:solidFill>
                  </a:tcPr>
                </a:tc>
              </a:tr>
              <a:tr h="530352">
                <a:tc>
                  <a:txBody>
                    <a:bodyPr/>
                    <a:lstStyle/>
                    <a:p>
                      <a:pPr algn="l" indent="0" marL="0">
                        <a:buNone/>
                      </a:pPr>
                      <a:r>
                        <a:rPr lang="en-US" sz="1300" b="1" dirty="0">
                          <a:solidFill>
                            <a:srgbClr val="262626"/>
                          </a:solidFill>
                          <a:latin typeface="Malgun Gothic" pitchFamily="34" charset="0"/>
                          <a:ea typeface="Malgun Gothic" pitchFamily="34" charset="-122"/>
                          <a:cs typeface="Malgun Gothic" pitchFamily="34" charset="-120"/>
                        </a:rPr>
                        <a:t>중대(Critical)</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추가 통제 검토</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699"/>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추가 통제 검토</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699"/>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허용 불가</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C7C3"/>
                    </a:solidFill>
                  </a:tcPr>
                </a:tc>
              </a:tr>
              <a:tr h="530352">
                <a:tc>
                  <a:txBody>
                    <a:bodyPr/>
                    <a:lstStyle/>
                    <a:p>
                      <a:pPr algn="l" indent="0" marL="0">
                        <a:buNone/>
                      </a:pPr>
                      <a:r>
                        <a:rPr lang="en-US" sz="1300" b="1" dirty="0">
                          <a:solidFill>
                            <a:srgbClr val="262626"/>
                          </a:solidFill>
                          <a:latin typeface="Malgun Gothic" pitchFamily="34" charset="0"/>
                          <a:ea typeface="Malgun Gothic" pitchFamily="34" charset="-122"/>
                          <a:cs typeface="Malgun Gothic" pitchFamily="34" charset="-120"/>
                        </a:rPr>
                        <a:t>심각(Serious)</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허용</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F4CE"/>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추가 통제 검토</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699"/>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허용 불가</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4C7C3"/>
                    </a:solidFill>
                  </a:tcPr>
                </a:tc>
              </a:tr>
              <a:tr h="530352">
                <a:tc>
                  <a:txBody>
                    <a:bodyPr/>
                    <a:lstStyle/>
                    <a:p>
                      <a:pPr algn="l" indent="0" marL="0">
                        <a:buNone/>
                      </a:pPr>
                      <a:r>
                        <a:rPr lang="en-US" sz="1300" b="1" dirty="0">
                          <a:solidFill>
                            <a:srgbClr val="262626"/>
                          </a:solidFill>
                          <a:latin typeface="Malgun Gothic" pitchFamily="34" charset="0"/>
                          <a:ea typeface="Malgun Gothic" pitchFamily="34" charset="-122"/>
                          <a:cs typeface="Malgun Gothic" pitchFamily="34" charset="-120"/>
                        </a:rPr>
                        <a:t>경미(Minor)</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허용</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F4CE"/>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허용</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F4CE"/>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추가 통제 검토</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E699"/>
                    </a:solidFill>
                  </a:tcPr>
                </a:tc>
              </a:tr>
              <a:tr h="530352">
                <a:tc>
                  <a:txBody>
                    <a:bodyPr/>
                    <a:lstStyle/>
                    <a:p>
                      <a:pPr algn="l" indent="0" marL="0">
                        <a:buNone/>
                      </a:pPr>
                      <a:r>
                        <a:rPr lang="en-US" sz="1300" b="1" dirty="0">
                          <a:solidFill>
                            <a:srgbClr val="262626"/>
                          </a:solidFill>
                          <a:latin typeface="Malgun Gothic" pitchFamily="34" charset="0"/>
                          <a:ea typeface="Malgun Gothic" pitchFamily="34" charset="-122"/>
                          <a:cs typeface="Malgun Gothic" pitchFamily="34" charset="-120"/>
                        </a:rPr>
                        <a:t>무시 가능(Negligible)</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2F2"/>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허용</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F4CE"/>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허용</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F4CE"/>
                    </a:solidFill>
                  </a:tcPr>
                </a:tc>
                <a:tc>
                  <a:txBody>
                    <a:bodyPr/>
                    <a:lstStyle/>
                    <a:p>
                      <a:pPr algn="ctr" indent="0" marL="0">
                        <a:buNone/>
                      </a:pPr>
                      <a:r>
                        <a:rPr lang="en-US" sz="1300" dirty="0">
                          <a:solidFill>
                            <a:srgbClr val="262626"/>
                          </a:solidFill>
                          <a:latin typeface="Malgun Gothic" pitchFamily="34" charset="0"/>
                          <a:ea typeface="Malgun Gothic" pitchFamily="34" charset="-122"/>
                          <a:cs typeface="Malgun Gothic" pitchFamily="34" charset="-120"/>
                        </a:rPr>
                        <a:t>허용</a:t>
                      </a:r>
                      <a:endParaRPr lang="en-US" sz="1300" dirty="0">
                        <a:latin typeface="Malgun Gothic" charset="0"/>
                        <a:ea typeface="Malgun Gothic" charset="0"/>
                        <a:cs typeface="Malgun Gothic"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5F4CE"/>
                    </a:solidFill>
                  </a:tcPr>
                </a:tc>
              </a:tr>
            </a:tbl>
          </a:graphicData>
        </a:graphic>
      </p:graphicFrame>
      <p:sp>
        <p:nvSpPr>
          <p:cNvPr id="15" name="Text 12"/>
          <p:cNvSpPr txBox="1"/>
          <p:nvPr/>
        </p:nvSpPr>
        <p:spPr>
          <a:xfrm>
            <a:off x="5852160" y="5760720"/>
            <a:ext cx="5879592" cy="548640"/>
          </a:xfrm>
          <a:prstGeom prst="rect">
            <a:avLst/>
          </a:prstGeom>
          <a:noFill/>
          <a:ln/>
        </p:spPr>
        <p:txBody>
          <a:bodyPr wrap="square" lIns="0" tIns="0" rIns="0" bIns="0" rtlCol="0" anchor="t"/>
          <a:lstStyle/>
          <a:p>
            <a:pPr indent="0" marL="0">
              <a:buNone/>
            </a:pPr>
            <a:r>
              <a:rPr lang="en-US" sz="1100" dirty="0">
                <a:solidFill>
                  <a:srgbClr val="7F7F7F"/>
                </a:solidFill>
              </a:rPr>
              <a:t>제조사가 정하는 예시 방법이며, 등급·심각도 정의·판정 기준은 위험관리 계획서(risk management plan)에 미리 정의함</a:t>
            </a:r>
            <a:endParaRPr lang="en-US" sz="1100" dirty="0"/>
          </a:p>
          <a:p>
            <a:pPr indent="0" marL="0">
              <a:buNone/>
            </a:pPr>
            <a:r>
              <a:rPr lang="en-US" sz="1100" dirty="0">
                <a:solidFill>
                  <a:srgbClr val="7F7F7F"/>
                </a:solidFill>
              </a:rPr>
              <a:t>"허용" 칸도 가능한 한 위험을 줄일 의무와 잔여 위험 검토가 적용됨</a:t>
            </a:r>
            <a:endParaRPr lang="en-US" sz="11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Malgun Gothic"/>
                <a:ea typeface="Malgun Gothic"/>
                <a:cs typeface="Malgun Gothic"/>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tag"/>
          <p:cNvSpPr txBox="1"/>
          <p:nvPr/>
        </p:nvSpPr>
        <p:spPr>
          <a:xfrm>
            <a:off x="457200" y="365760"/>
            <a:ext cx="3840480" cy="548640"/>
          </a:xfrm>
          <a:prstGeom prst="roundRect">
            <a:avLst>
              <a:gd name="adj" fmla="val 46667"/>
            </a:avLst>
          </a:prstGeom>
          <a:solidFill>
            <a:srgbClr val="44546A"/>
          </a:solidFill>
          <a:ln>
            <a:solidFill>
              <a:srgbClr val="44546A"/>
            </a:solidFill>
          </a:ln>
        </p:spPr>
        <p:txBody>
          <a:bodyPr wrap="square" rtlCol="0" anchor="ctr"/>
          <a:lstStyle/>
          <a:p>
            <a:pPr algn="ctr" indent="0" marL="0">
              <a:buNone/>
            </a:pPr>
            <a:r>
              <a:rPr lang="en-US" sz="2000" b="1" dirty="0">
                <a:solidFill>
                  <a:srgbClr val="FFFFFF"/>
                </a:solidFill>
              </a:rPr>
              <a:t>공격 가능성 산정</a:t>
            </a:r>
            <a:endParaRPr lang="en-US" sz="2000" dirty="0"/>
          </a:p>
        </p:txBody>
      </p:sp>
      <p:sp>
        <p:nvSpPr>
          <p:cNvPr id="3" name="Purpose label"/>
          <p:cNvSpPr txBox="1"/>
          <p:nvPr/>
        </p:nvSpPr>
        <p:spPr>
          <a:xfrm>
            <a:off x="457200" y="1188720"/>
            <a:ext cx="1005840" cy="1051560"/>
          </a:xfrm>
          <a:prstGeom prst="roundRect">
            <a:avLst>
              <a:gd name="adj" fmla="val 10909"/>
            </a:avLst>
          </a:prstGeom>
          <a:solidFill>
            <a:srgbClr val="77AE26"/>
          </a:solidFill>
          <a:ln>
            <a:solidFill>
              <a:srgbClr val="77AE26"/>
            </a:solidFill>
          </a:ln>
        </p:spPr>
        <p:txBody>
          <a:bodyPr wrap="square" rtlCol="0" anchor="ctr"/>
          <a:lstStyle/>
          <a:p>
            <a:pPr algn="ctr" indent="0" marL="0">
              <a:buNone/>
            </a:pPr>
            <a:r>
              <a:rPr lang="en-US" sz="1600" b="1" dirty="0">
                <a:solidFill>
                  <a:srgbClr val="FFFFFF"/>
                </a:solidFill>
              </a:rPr>
              <a:t>목적</a:t>
            </a:r>
            <a:endParaRPr lang="en-US" sz="1600" dirty="0"/>
          </a:p>
        </p:txBody>
      </p:sp>
      <p:sp>
        <p:nvSpPr>
          <p:cNvPr id="4" name="Purpose box"/>
          <p:cNvSpPr txBox="1"/>
          <p:nvPr/>
        </p:nvSpPr>
        <p:spPr>
          <a:xfrm>
            <a:off x="1600200" y="1188720"/>
            <a:ext cx="10131552" cy="1051560"/>
          </a:xfrm>
          <a:prstGeom prst="roundRect">
            <a:avLst>
              <a:gd name="adj" fmla="val 10435"/>
            </a:avLst>
          </a:prstGeom>
          <a:solidFill>
            <a:srgbClr val="E5F4CE"/>
          </a:solidFill>
          <a:ln>
            <a:solidFill>
              <a:srgbClr val="E5F4CE"/>
            </a:solidFill>
          </a:ln>
        </p:spPr>
        <p:txBody>
          <a:bodyPr wrap="square" lIns="50800" tIns="177800" rIns="177800" bIns="50800" rtlCol="0" anchor="ctr"/>
          <a:lstStyle/>
          <a:p>
            <a:pPr algn="l" indent="0" marL="0">
              <a:buNone/>
            </a:pPr>
            <a:r>
              <a:rPr lang="en-US" sz="1600" dirty="0">
                <a:solidFill>
                  <a:srgbClr val="262626"/>
                </a:solidFill>
              </a:rPr>
              <a:t>의도적 공격은 과거 데이터로 발생 확률을 추정하기 어렵다. 따라서 공격에 필요한 자원을 점수화하는 공인 방법으로 공격 가능성(exploitability)을 산정하고, 산정 근거를 계획서에 고정한다.</a:t>
            </a:r>
            <a:endParaRPr lang="en-US" sz="1600" dirty="0"/>
          </a:p>
        </p:txBody>
      </p:sp>
      <p:graphicFrame>
        <p:nvGraphicFramePr>
          <p:cNvPr id="5" name="Attack potential table"/>
          <p:cNvGraphicFramePr>
            <a:graphicFrameLocks noGrp="1"/>
          </p:cNvGraphicFramePr>
          <p:nvPr>
            <p:extLst>
              <p:ext uri="{D42A27DB-BD31-4B8C-83A1-F6EECF244321}">
                <p14:modId xmlns:p14="http://schemas.microsoft.com/office/powerpoint/2010/main" val="1579011935"/>
              </p:ext>
            </p:extLst>
          </p:nvPr>
        </p:nvGraphicFramePr>
        <p:xfrm>
          <a:off x="457200" y="2514600"/>
          <a:ext cx="6949440" cy="914400"/>
        </p:xfrm>
        <a:graphic>
          <a:graphicData uri="http://schemas.openxmlformats.org/drawingml/2006/table">
            <a:tbl>
              <a:tblPr/>
              <a:tblGrid>
                <a:gridCol w="3291840"/>
                <a:gridCol w="1828800"/>
                <a:gridCol w="1828800"/>
              </a:tblGrid>
              <a:tr h="512064">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공격 잠재력 요소</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44546A"/>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낮은 점수(쉬움)</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44546A"/>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높은 점수(어려움)</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44546A"/>
                    </a:solidFill>
                  </a:tcPr>
                </a:tc>
              </a:tr>
              <a:tr h="512064">
                <a:tc>
                  <a:txBody>
                    <a:bodyPr/>
                    <a:lstStyle/>
                    <a:p>
                      <a:pPr indent="0" marL="0">
                        <a:buNone/>
                      </a:pPr>
                      <a:r>
                        <a:rPr lang="en-US" sz="1400" b="1" dirty="0">
                          <a:solidFill>
                            <a:srgbClr val="262626"/>
                          </a:solidFill>
                          <a:latin typeface="Malgun Gothic" pitchFamily="34" charset="0"/>
                          <a:ea typeface="Malgun Gothic" pitchFamily="34" charset="-122"/>
                          <a:cs typeface="Malgun Gothic" pitchFamily="34" charset="-120"/>
                        </a:rPr>
                        <a:t>소요 시간(elapsed time)</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400" dirty="0">
                          <a:solidFill>
                            <a:srgbClr val="262626"/>
                          </a:solidFill>
                          <a:latin typeface="Malgun Gothic" pitchFamily="34" charset="0"/>
                          <a:ea typeface="Malgun Gothic" pitchFamily="34" charset="-122"/>
                          <a:cs typeface="Malgun Gothic" pitchFamily="34" charset="-120"/>
                        </a:rPr>
                        <a:t>1일 이내</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62626"/>
                          </a:solidFill>
                          <a:latin typeface="Malgun Gothic" pitchFamily="34" charset="0"/>
                          <a:ea typeface="Malgun Gothic" pitchFamily="34" charset="-122"/>
                          <a:cs typeface="Malgun Gothic" pitchFamily="34" charset="-120"/>
                        </a:rPr>
                        <a:t>수개월 이상</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12064">
                <a:tc>
                  <a:txBody>
                    <a:bodyPr/>
                    <a:lstStyle/>
                    <a:p>
                      <a:pPr indent="0" marL="0">
                        <a:buNone/>
                      </a:pPr>
                      <a:r>
                        <a:rPr lang="en-US" sz="1400" b="1" dirty="0">
                          <a:solidFill>
                            <a:srgbClr val="262626"/>
                          </a:solidFill>
                          <a:latin typeface="Malgun Gothic" pitchFamily="34" charset="0"/>
                          <a:ea typeface="Malgun Gothic" pitchFamily="34" charset="-122"/>
                          <a:cs typeface="Malgun Gothic" pitchFamily="34" charset="-120"/>
                        </a:rPr>
                        <a:t>전문 기술 수준(specialist expertise)</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400" dirty="0">
                          <a:solidFill>
                            <a:srgbClr val="262626"/>
                          </a:solidFill>
                          <a:latin typeface="Malgun Gothic" pitchFamily="34" charset="0"/>
                          <a:ea typeface="Malgun Gothic" pitchFamily="34" charset="-122"/>
                          <a:cs typeface="Malgun Gothic" pitchFamily="34" charset="-120"/>
                        </a:rPr>
                        <a:t>일반인</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62626"/>
                          </a:solidFill>
                          <a:latin typeface="Malgun Gothic" pitchFamily="34" charset="0"/>
                          <a:ea typeface="Malgun Gothic" pitchFamily="34" charset="-122"/>
                          <a:cs typeface="Malgun Gothic" pitchFamily="34" charset="-120"/>
                        </a:rPr>
                        <a:t>여러 분야 전문가</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12064">
                <a:tc>
                  <a:txBody>
                    <a:bodyPr/>
                    <a:lstStyle/>
                    <a:p>
                      <a:pPr indent="0" marL="0">
                        <a:buNone/>
                      </a:pPr>
                      <a:r>
                        <a:rPr lang="en-US" sz="1400" b="1" dirty="0">
                          <a:solidFill>
                            <a:srgbClr val="262626"/>
                          </a:solidFill>
                          <a:latin typeface="Malgun Gothic" pitchFamily="34" charset="0"/>
                          <a:ea typeface="Malgun Gothic" pitchFamily="34" charset="-122"/>
                          <a:cs typeface="Malgun Gothic" pitchFamily="34" charset="-120"/>
                        </a:rPr>
                        <a:t>설계·운용 지식(knowledge of the TOE)</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400" dirty="0">
                          <a:solidFill>
                            <a:srgbClr val="262626"/>
                          </a:solidFill>
                          <a:latin typeface="Malgun Gothic" pitchFamily="34" charset="0"/>
                          <a:ea typeface="Malgun Gothic" pitchFamily="34" charset="-122"/>
                          <a:cs typeface="Malgun Gothic" pitchFamily="34" charset="-120"/>
                        </a:rPr>
                        <a:t>공개 정보</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62626"/>
                          </a:solidFill>
                          <a:latin typeface="Malgun Gothic" pitchFamily="34" charset="0"/>
                          <a:ea typeface="Malgun Gothic" pitchFamily="34" charset="-122"/>
                          <a:cs typeface="Malgun Gothic" pitchFamily="34" charset="-120"/>
                        </a:rPr>
                        <a:t>엄격히 통제된 정보</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12064">
                <a:tc>
                  <a:txBody>
                    <a:bodyPr/>
                    <a:lstStyle/>
                    <a:p>
                      <a:pPr indent="0" marL="0">
                        <a:buNone/>
                      </a:pPr>
                      <a:r>
                        <a:rPr lang="en-US" sz="1400" b="1" dirty="0">
                          <a:solidFill>
                            <a:srgbClr val="262626"/>
                          </a:solidFill>
                          <a:latin typeface="Malgun Gothic" pitchFamily="34" charset="0"/>
                          <a:ea typeface="Malgun Gothic" pitchFamily="34" charset="-122"/>
                          <a:cs typeface="Malgun Gothic" pitchFamily="34" charset="-120"/>
                        </a:rPr>
                        <a:t>기회의 창(window of opportunity)</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400" dirty="0">
                          <a:solidFill>
                            <a:srgbClr val="262626"/>
                          </a:solidFill>
                          <a:latin typeface="Malgun Gothic" pitchFamily="34" charset="0"/>
                          <a:ea typeface="Malgun Gothic" pitchFamily="34" charset="-122"/>
                          <a:cs typeface="Malgun Gothic" pitchFamily="34" charset="-120"/>
                        </a:rPr>
                        <a:t>제약 없음</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62626"/>
                          </a:solidFill>
                          <a:latin typeface="Malgun Gothic" pitchFamily="34" charset="0"/>
                          <a:ea typeface="Malgun Gothic" pitchFamily="34" charset="-122"/>
                          <a:cs typeface="Malgun Gothic" pitchFamily="34" charset="-120"/>
                        </a:rPr>
                        <a:t>매우 제한적</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r h="512064">
                <a:tc>
                  <a:txBody>
                    <a:bodyPr/>
                    <a:lstStyle/>
                    <a:p>
                      <a:pPr indent="0" marL="0">
                        <a:buNone/>
                      </a:pPr>
                      <a:r>
                        <a:rPr lang="en-US" sz="1400" b="1" dirty="0">
                          <a:solidFill>
                            <a:srgbClr val="262626"/>
                          </a:solidFill>
                          <a:latin typeface="Malgun Gothic" pitchFamily="34" charset="0"/>
                          <a:ea typeface="Malgun Gothic" pitchFamily="34" charset="-122"/>
                          <a:cs typeface="Malgun Gothic" pitchFamily="34" charset="-120"/>
                        </a:rPr>
                        <a:t>장비(equipment)</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solidFill>
                      <a:srgbClr val="F2F2F2"/>
                    </a:solidFill>
                  </a:tcPr>
                </a:tc>
                <a:tc>
                  <a:txBody>
                    <a:bodyPr/>
                    <a:lstStyle/>
                    <a:p>
                      <a:pPr indent="0" marL="0">
                        <a:buNone/>
                      </a:pPr>
                      <a:r>
                        <a:rPr lang="en-US" sz="1400" dirty="0">
                          <a:solidFill>
                            <a:srgbClr val="262626"/>
                          </a:solidFill>
                          <a:latin typeface="Malgun Gothic" pitchFamily="34" charset="0"/>
                          <a:ea typeface="Malgun Gothic" pitchFamily="34" charset="-122"/>
                          <a:cs typeface="Malgun Gothic" pitchFamily="34" charset="-120"/>
                        </a:rPr>
                        <a:t>일반 장비</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c>
                  <a:txBody>
                    <a:bodyPr/>
                    <a:lstStyle/>
                    <a:p>
                      <a:pPr indent="0" marL="0">
                        <a:buNone/>
                      </a:pPr>
                      <a:r>
                        <a:rPr lang="en-US" sz="1400" dirty="0">
                          <a:solidFill>
                            <a:srgbClr val="262626"/>
                          </a:solidFill>
                          <a:latin typeface="Malgun Gothic" pitchFamily="34" charset="0"/>
                          <a:ea typeface="Malgun Gothic" pitchFamily="34" charset="-122"/>
                          <a:cs typeface="Malgun Gothic" pitchFamily="34" charset="-120"/>
                        </a:rPr>
                        <a:t>맞춤 제작 장비</a:t>
                      </a:r>
                      <a:endParaRPr lang="en-US" sz="1400" dirty="0">
                        <a:latin typeface="Malgun Gothic" charset="0"/>
                        <a:ea typeface="Malgun Gothic" charset="0"/>
                        <a:cs typeface="Malgun Gothic" charset="0"/>
                      </a:endParaRPr>
                    </a:p>
                  </a:txBody>
                  <a:tcPr marL="91440" marR="91440" marT="45720" marB="45720" anchor="ctr">
                    <a:lnL w="12700" cap="flat" cmpd="sng" algn="ctr">
                      <a:solidFill>
                        <a:srgbClr val="D9D9D9"/>
                      </a:solidFill>
                      <a:prstDash val="solid"/>
                      <a:round/>
                      <a:headEnd type="none" w="med" len="med"/>
                      <a:tailEnd type="none" w="med" len="med"/>
                    </a:lnL>
                    <a:lnR w="12700" cap="flat" cmpd="sng" algn="ctr">
                      <a:solidFill>
                        <a:srgbClr val="D9D9D9"/>
                      </a:solidFill>
                      <a:prstDash val="solid"/>
                      <a:round/>
                      <a:headEnd type="none" w="med" len="med"/>
                      <a:tailEnd type="none" w="med" len="med"/>
                    </a:lnR>
                    <a:lnT w="12700" cap="flat" cmpd="sng" algn="ctr">
                      <a:solidFill>
                        <a:srgbClr val="D9D9D9"/>
                      </a:solidFill>
                      <a:prstDash val="solid"/>
                      <a:round/>
                      <a:headEnd type="none" w="med" len="med"/>
                      <a:tailEnd type="none" w="med" len="med"/>
                    </a:lnT>
                    <a:lnB w="12700" cap="flat" cmpd="sng" algn="ctr">
                      <a:solidFill>
                        <a:srgbClr val="D9D9D9"/>
                      </a:solidFill>
                      <a:prstDash val="solid"/>
                      <a:round/>
                      <a:headEnd type="none" w="med" len="med"/>
                      <a:tailEnd type="none" w="med" len="med"/>
                    </a:lnB>
                  </a:tcPr>
                </a:tc>
              </a:tr>
            </a:tbl>
          </a:graphicData>
        </a:graphic>
      </p:graphicFrame>
      <p:sp>
        <p:nvSpPr>
          <p:cNvPr id="6" name="Text 3"/>
          <p:cNvSpPr txBox="1"/>
          <p:nvPr/>
        </p:nvSpPr>
        <p:spPr>
          <a:xfrm>
            <a:off x="457200" y="5715000"/>
            <a:ext cx="6949440" cy="502920"/>
          </a:xfrm>
          <a:prstGeom prst="rect">
            <a:avLst/>
          </a:prstGeom>
          <a:noFill/>
          <a:ln/>
        </p:spPr>
        <p:txBody>
          <a:bodyPr wrap="square" lIns="0" tIns="0" rIns="0" bIns="0" rtlCol="0" anchor="t"/>
          <a:lstStyle/>
          <a:p>
            <a:pPr indent="0" marL="0">
              <a:buNone/>
            </a:pPr>
            <a:r>
              <a:rPr lang="en-US" sz="1100" dirty="0">
                <a:solidFill>
                  <a:srgbClr val="7F7F7F"/>
                </a:solidFill>
              </a:rPr>
              <a:t>근거: ISO/IEC 18045·CEM 공격 잠재력(attack potential) 요소. 적용 판본·점수표·등급 변환 기준은 계획서에 명시함</a:t>
            </a:r>
            <a:endParaRPr lang="en-US" sz="1100" dirty="0"/>
          </a:p>
        </p:txBody>
      </p:sp>
      <p:sp>
        <p:nvSpPr>
          <p:cNvPr id="7" name="Text 4"/>
          <p:cNvSpPr txBox="1"/>
          <p:nvPr/>
        </p:nvSpPr>
        <p:spPr>
          <a:xfrm>
            <a:off x="7863840" y="2514600"/>
            <a:ext cx="3867912" cy="411480"/>
          </a:xfrm>
          <a:prstGeom prst="rect">
            <a:avLst/>
          </a:prstGeom>
          <a:noFill/>
          <a:ln/>
        </p:spPr>
        <p:txBody>
          <a:bodyPr wrap="square" lIns="0" tIns="0" rIns="0" bIns="0" rtlCol="0" anchor="ctr"/>
          <a:lstStyle/>
          <a:p>
            <a:pPr indent="0" marL="0">
              <a:buNone/>
            </a:pPr>
            <a:r>
              <a:rPr lang="en-US" sz="1600" b="1" dirty="0">
                <a:solidFill>
                  <a:srgbClr val="44546A"/>
                </a:solidFill>
              </a:rPr>
              <a:t>점수 합계 → 등급 변환</a:t>
            </a:r>
            <a:endParaRPr lang="en-US" sz="1600" dirty="0"/>
          </a:p>
        </p:txBody>
      </p:sp>
      <p:sp>
        <p:nvSpPr>
          <p:cNvPr id="8" name="Text 5"/>
          <p:cNvSpPr txBox="1"/>
          <p:nvPr/>
        </p:nvSpPr>
        <p:spPr>
          <a:xfrm>
            <a:off x="7863840" y="3017520"/>
            <a:ext cx="1280160" cy="475488"/>
          </a:xfrm>
          <a:prstGeom prst="rect">
            <a:avLst/>
          </a:prstGeom>
          <a:noFill/>
          <a:ln/>
        </p:spPr>
        <p:txBody>
          <a:bodyPr wrap="square" lIns="0" tIns="0" rIns="0" bIns="0" rtlCol="0" anchor="ctr"/>
          <a:lstStyle/>
          <a:p>
            <a:pPr algn="l" indent="0" marL="0">
              <a:buNone/>
            </a:pPr>
            <a:r>
              <a:rPr lang="en-US" sz="1300" dirty="0">
                <a:solidFill>
                  <a:srgbClr val="262626"/>
                </a:solidFill>
              </a:rPr>
              <a:t>낮은 합계</a:t>
            </a:r>
            <a:endParaRPr lang="en-US" sz="1300" dirty="0"/>
          </a:p>
        </p:txBody>
      </p:sp>
      <p:sp>
        <p:nvSpPr>
          <p:cNvPr id="9" name="Shape 6"/>
          <p:cNvSpPr/>
          <p:nvPr/>
        </p:nvSpPr>
        <p:spPr>
          <a:xfrm>
            <a:off x="9098280" y="3255264"/>
            <a:ext cx="411480" cy="0"/>
          </a:xfrm>
          <a:prstGeom prst="line">
            <a:avLst/>
          </a:prstGeom>
          <a:noFill/>
          <a:ln w="25400">
            <a:solidFill>
              <a:srgbClr val="44546A"/>
            </a:solidFill>
            <a:prstDash val="solid"/>
            <a:tailEnd type="triangle"/>
          </a:ln>
        </p:spPr>
      </p:sp>
      <p:sp>
        <p:nvSpPr>
          <p:cNvPr id="10" name="Text 7"/>
          <p:cNvSpPr txBox="1"/>
          <p:nvPr/>
        </p:nvSpPr>
        <p:spPr>
          <a:xfrm>
            <a:off x="9601200" y="3017520"/>
            <a:ext cx="2130552" cy="475488"/>
          </a:xfrm>
          <a:prstGeom prst="roundRect">
            <a:avLst>
              <a:gd name="adj" fmla="val 38462"/>
            </a:avLst>
          </a:prstGeom>
          <a:solidFill>
            <a:srgbClr val="F4C7C3"/>
          </a:solidFill>
          <a:ln>
            <a:solidFill>
              <a:srgbClr val="F4C7C3"/>
            </a:solidFill>
          </a:ln>
        </p:spPr>
        <p:txBody>
          <a:bodyPr wrap="square" lIns="0" tIns="0" rIns="0" bIns="0" rtlCol="0" anchor="ctr"/>
          <a:lstStyle/>
          <a:p>
            <a:pPr algn="ctr" indent="0" marL="0">
              <a:buNone/>
            </a:pPr>
            <a:r>
              <a:rPr lang="en-US" sz="1300" b="1" dirty="0">
                <a:solidFill>
                  <a:srgbClr val="262626"/>
                </a:solidFill>
              </a:rPr>
              <a:t>공격 가능성 높음</a:t>
            </a:r>
            <a:endParaRPr lang="en-US" sz="1300" dirty="0"/>
          </a:p>
        </p:txBody>
      </p:sp>
      <p:sp>
        <p:nvSpPr>
          <p:cNvPr id="11" name="Text 8"/>
          <p:cNvSpPr txBox="1"/>
          <p:nvPr/>
        </p:nvSpPr>
        <p:spPr>
          <a:xfrm>
            <a:off x="7863840" y="3639312"/>
            <a:ext cx="1280160" cy="475488"/>
          </a:xfrm>
          <a:prstGeom prst="rect">
            <a:avLst/>
          </a:prstGeom>
          <a:noFill/>
          <a:ln/>
        </p:spPr>
        <p:txBody>
          <a:bodyPr wrap="square" lIns="0" tIns="0" rIns="0" bIns="0" rtlCol="0" anchor="ctr"/>
          <a:lstStyle/>
          <a:p>
            <a:pPr algn="l" indent="0" marL="0">
              <a:buNone/>
            </a:pPr>
            <a:r>
              <a:rPr lang="en-US" sz="1300" dirty="0">
                <a:solidFill>
                  <a:srgbClr val="262626"/>
                </a:solidFill>
              </a:rPr>
              <a:t>중간 합계</a:t>
            </a:r>
            <a:endParaRPr lang="en-US" sz="1300" dirty="0"/>
          </a:p>
        </p:txBody>
      </p:sp>
      <p:sp>
        <p:nvSpPr>
          <p:cNvPr id="12" name="Shape 9"/>
          <p:cNvSpPr/>
          <p:nvPr/>
        </p:nvSpPr>
        <p:spPr>
          <a:xfrm>
            <a:off x="9098280" y="3877056"/>
            <a:ext cx="411480" cy="0"/>
          </a:xfrm>
          <a:prstGeom prst="line">
            <a:avLst/>
          </a:prstGeom>
          <a:noFill/>
          <a:ln w="25400">
            <a:solidFill>
              <a:srgbClr val="44546A"/>
            </a:solidFill>
            <a:prstDash val="solid"/>
            <a:tailEnd type="triangle"/>
          </a:ln>
        </p:spPr>
      </p:sp>
      <p:sp>
        <p:nvSpPr>
          <p:cNvPr id="13" name="Text 10"/>
          <p:cNvSpPr txBox="1"/>
          <p:nvPr/>
        </p:nvSpPr>
        <p:spPr>
          <a:xfrm>
            <a:off x="9601200" y="3639312"/>
            <a:ext cx="2130552" cy="475488"/>
          </a:xfrm>
          <a:prstGeom prst="roundRect">
            <a:avLst>
              <a:gd name="adj" fmla="val 38462"/>
            </a:avLst>
          </a:prstGeom>
          <a:solidFill>
            <a:srgbClr val="FFE699"/>
          </a:solidFill>
          <a:ln>
            <a:solidFill>
              <a:srgbClr val="FFE699"/>
            </a:solidFill>
          </a:ln>
        </p:spPr>
        <p:txBody>
          <a:bodyPr wrap="square" lIns="0" tIns="0" rIns="0" bIns="0" rtlCol="0" anchor="ctr"/>
          <a:lstStyle/>
          <a:p>
            <a:pPr algn="ctr" indent="0" marL="0">
              <a:buNone/>
            </a:pPr>
            <a:r>
              <a:rPr lang="en-US" sz="1300" b="1" dirty="0">
                <a:solidFill>
                  <a:srgbClr val="262626"/>
                </a:solidFill>
              </a:rPr>
              <a:t>공격 가능성 중간</a:t>
            </a:r>
            <a:endParaRPr lang="en-US" sz="1300" dirty="0"/>
          </a:p>
        </p:txBody>
      </p:sp>
      <p:sp>
        <p:nvSpPr>
          <p:cNvPr id="14" name="Text 11"/>
          <p:cNvSpPr txBox="1"/>
          <p:nvPr/>
        </p:nvSpPr>
        <p:spPr>
          <a:xfrm>
            <a:off x="7863840" y="4261104"/>
            <a:ext cx="1280160" cy="475488"/>
          </a:xfrm>
          <a:prstGeom prst="rect">
            <a:avLst/>
          </a:prstGeom>
          <a:noFill/>
          <a:ln/>
        </p:spPr>
        <p:txBody>
          <a:bodyPr wrap="square" lIns="0" tIns="0" rIns="0" bIns="0" rtlCol="0" anchor="ctr"/>
          <a:lstStyle/>
          <a:p>
            <a:pPr algn="l" indent="0" marL="0">
              <a:buNone/>
            </a:pPr>
            <a:r>
              <a:rPr lang="en-US" sz="1300" dirty="0">
                <a:solidFill>
                  <a:srgbClr val="262626"/>
                </a:solidFill>
              </a:rPr>
              <a:t>높은 합계</a:t>
            </a:r>
            <a:endParaRPr lang="en-US" sz="1300" dirty="0"/>
          </a:p>
        </p:txBody>
      </p:sp>
      <p:sp>
        <p:nvSpPr>
          <p:cNvPr id="15" name="Shape 12"/>
          <p:cNvSpPr/>
          <p:nvPr/>
        </p:nvSpPr>
        <p:spPr>
          <a:xfrm>
            <a:off x="9098280" y="4498848"/>
            <a:ext cx="411480" cy="0"/>
          </a:xfrm>
          <a:prstGeom prst="line">
            <a:avLst/>
          </a:prstGeom>
          <a:noFill/>
          <a:ln w="25400">
            <a:solidFill>
              <a:srgbClr val="44546A"/>
            </a:solidFill>
            <a:prstDash val="solid"/>
            <a:tailEnd type="triangle"/>
          </a:ln>
        </p:spPr>
      </p:sp>
      <p:sp>
        <p:nvSpPr>
          <p:cNvPr id="16" name="Text 13"/>
          <p:cNvSpPr txBox="1"/>
          <p:nvPr/>
        </p:nvSpPr>
        <p:spPr>
          <a:xfrm>
            <a:off x="9601200" y="4261104"/>
            <a:ext cx="2130552" cy="475488"/>
          </a:xfrm>
          <a:prstGeom prst="roundRect">
            <a:avLst>
              <a:gd name="adj" fmla="val 38462"/>
            </a:avLst>
          </a:prstGeom>
          <a:solidFill>
            <a:srgbClr val="E5F4CE"/>
          </a:solidFill>
          <a:ln>
            <a:solidFill>
              <a:srgbClr val="E5F4CE"/>
            </a:solidFill>
          </a:ln>
        </p:spPr>
        <p:txBody>
          <a:bodyPr wrap="square" lIns="0" tIns="0" rIns="0" bIns="0" rtlCol="0" anchor="ctr"/>
          <a:lstStyle/>
          <a:p>
            <a:pPr algn="ctr" indent="0" marL="0">
              <a:buNone/>
            </a:pPr>
            <a:r>
              <a:rPr lang="en-US" sz="1300" b="1" dirty="0">
                <a:solidFill>
                  <a:srgbClr val="262626"/>
                </a:solidFill>
              </a:rPr>
              <a:t>공격 가능성 낮음</a:t>
            </a:r>
            <a:endParaRPr lang="en-US" sz="1300" dirty="0"/>
          </a:p>
        </p:txBody>
      </p:sp>
      <p:sp>
        <p:nvSpPr>
          <p:cNvPr id="17" name="CVSS note"/>
          <p:cNvSpPr txBox="1"/>
          <p:nvPr/>
        </p:nvSpPr>
        <p:spPr>
          <a:xfrm>
            <a:off x="7863840" y="4937760"/>
            <a:ext cx="3867912" cy="1097280"/>
          </a:xfrm>
          <a:prstGeom prst="roundRect">
            <a:avLst>
              <a:gd name="adj" fmla="val 8333"/>
            </a:avLst>
          </a:prstGeom>
          <a:solidFill>
            <a:srgbClr val="FFFFFF"/>
          </a:solidFill>
          <a:ln w="12700">
            <a:solidFill>
              <a:srgbClr val="7F7F7F"/>
            </a:solidFill>
          </a:ln>
        </p:spPr>
        <p:txBody>
          <a:bodyPr wrap="square" lIns="50800" tIns="127000" rIns="127000" bIns="50800" rtlCol="0" anchor="ctr"/>
          <a:lstStyle/>
          <a:p>
            <a:pPr algn="l" indent="0" marL="0">
              <a:buNone/>
            </a:pPr>
            <a:r>
              <a:rPr lang="en-US" sz="1300" b="1" dirty="0">
                <a:solidFill>
                  <a:srgbClr val="262626"/>
                </a:solidFill>
              </a:rPr>
              <a:t>대안: CVSS v3.1</a:t>
            </a:r>
            <a:endParaRPr lang="en-US" sz="1300" dirty="0"/>
          </a:p>
          <a:p>
            <a:pPr algn="l" indent="0" marL="0">
              <a:buNone/>
            </a:pPr>
            <a:r>
              <a:rPr lang="en-US" sz="1300" dirty="0">
                <a:solidFill>
                  <a:srgbClr val="262626"/>
                </a:solidFill>
              </a:rPr>
              <a:t>AV·AC·PR·UI 지표를 보조 입력으로 활용함</a:t>
            </a:r>
            <a:endParaRPr lang="en-US" sz="1300" dirty="0"/>
          </a:p>
          <a:p>
            <a:pPr algn="l" indent="0" marL="0">
              <a:buNone/>
            </a:pPr>
            <a:r>
              <a:rPr lang="en-US" sz="1300" dirty="0">
                <a:solidFill>
                  <a:srgbClr val="262626"/>
                </a:solidFill>
              </a:rPr>
              <a:t>환자 위해 심각도는 별도로 평가함</a:t>
            </a:r>
            <a:endParaRPr lang="en-US" sz="13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Malgun Gothic"/>
                <a:ea typeface="Malgun Gothic"/>
                <a:cs typeface="Malgun Gothic"/>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tag"/>
          <p:cNvSpPr txBox="1"/>
          <p:nvPr/>
        </p:nvSpPr>
        <p:spPr>
          <a:xfrm>
            <a:off x="457200" y="365760"/>
            <a:ext cx="3840480" cy="548640"/>
          </a:xfrm>
          <a:prstGeom prst="roundRect">
            <a:avLst>
              <a:gd name="adj" fmla="val 46667"/>
            </a:avLst>
          </a:prstGeom>
          <a:solidFill>
            <a:srgbClr val="44546A"/>
          </a:solidFill>
          <a:ln>
            <a:solidFill>
              <a:srgbClr val="44546A"/>
            </a:solidFill>
          </a:ln>
        </p:spPr>
        <p:txBody>
          <a:bodyPr wrap="square" rtlCol="0" anchor="ctr"/>
          <a:lstStyle/>
          <a:p>
            <a:pPr algn="ctr" indent="0" marL="0">
              <a:buNone/>
            </a:pPr>
            <a:r>
              <a:rPr lang="en-US" sz="2000" b="1" dirty="0">
                <a:solidFill>
                  <a:srgbClr val="FFFFFF"/>
                </a:solidFill>
              </a:rPr>
              <a:t>위험 허용 논리</a:t>
            </a:r>
            <a:endParaRPr lang="en-US" sz="2000" dirty="0"/>
          </a:p>
        </p:txBody>
      </p:sp>
      <p:sp>
        <p:nvSpPr>
          <p:cNvPr id="3" name="Purpose label"/>
          <p:cNvSpPr txBox="1"/>
          <p:nvPr/>
        </p:nvSpPr>
        <p:spPr>
          <a:xfrm>
            <a:off x="457200" y="1188720"/>
            <a:ext cx="1005840" cy="1051560"/>
          </a:xfrm>
          <a:prstGeom prst="roundRect">
            <a:avLst>
              <a:gd name="adj" fmla="val 10909"/>
            </a:avLst>
          </a:prstGeom>
          <a:solidFill>
            <a:srgbClr val="77AE26"/>
          </a:solidFill>
          <a:ln>
            <a:solidFill>
              <a:srgbClr val="77AE26"/>
            </a:solidFill>
          </a:ln>
        </p:spPr>
        <p:txBody>
          <a:bodyPr wrap="square" rtlCol="0" anchor="ctr"/>
          <a:lstStyle/>
          <a:p>
            <a:pPr algn="ctr" indent="0" marL="0">
              <a:buNone/>
            </a:pPr>
            <a:r>
              <a:rPr lang="en-US" sz="1600" b="1" dirty="0">
                <a:solidFill>
                  <a:srgbClr val="FFFFFF"/>
                </a:solidFill>
              </a:rPr>
              <a:t>목적</a:t>
            </a:r>
            <a:endParaRPr lang="en-US" sz="1600" dirty="0"/>
          </a:p>
        </p:txBody>
      </p:sp>
      <p:sp>
        <p:nvSpPr>
          <p:cNvPr id="4" name="Purpose box"/>
          <p:cNvSpPr txBox="1"/>
          <p:nvPr/>
        </p:nvSpPr>
        <p:spPr>
          <a:xfrm>
            <a:off x="1600200" y="1188720"/>
            <a:ext cx="10131552" cy="1051560"/>
          </a:xfrm>
          <a:prstGeom prst="roundRect">
            <a:avLst>
              <a:gd name="adj" fmla="val 10435"/>
            </a:avLst>
          </a:prstGeom>
          <a:solidFill>
            <a:srgbClr val="E5F4CE"/>
          </a:solidFill>
          <a:ln>
            <a:solidFill>
              <a:srgbClr val="E5F4CE"/>
            </a:solidFill>
          </a:ln>
        </p:spPr>
        <p:txBody>
          <a:bodyPr wrap="square" lIns="50800" tIns="177800" rIns="177800" bIns="50800" rtlCol="0" anchor="ctr"/>
          <a:lstStyle/>
          <a:p>
            <a:pPr algn="l" indent="0" marL="0">
              <a:buNone/>
            </a:pPr>
            <a:r>
              <a:rPr lang="en-US" sz="1600" dirty="0">
                <a:solidFill>
                  <a:srgbClr val="262626"/>
                </a:solidFill>
              </a:rPr>
              <a:t>확률 대신 사전 기준, 최악의 임상 결과 가정, 통제 효과의 객관적 증거, 시판 후 감시를 하나의 논리로 묶어 잔여 위험(residual risk)이 허용 가능함을 보인다.</a:t>
            </a:r>
            <a:endParaRPr lang="en-US" sz="1600" dirty="0"/>
          </a:p>
        </p:txBody>
      </p:sp>
      <p:sp>
        <p:nvSpPr>
          <p:cNvPr id="5" name="Step card 1"/>
          <p:cNvSpPr/>
          <p:nvPr/>
        </p:nvSpPr>
        <p:spPr>
          <a:xfrm>
            <a:off x="457200" y="2514600"/>
            <a:ext cx="2606040" cy="2468880"/>
          </a:xfrm>
          <a:prstGeom prst="roundRect">
            <a:avLst>
              <a:gd name="adj" fmla="val 4444"/>
            </a:avLst>
          </a:prstGeom>
          <a:solidFill>
            <a:srgbClr val="FFFFFF"/>
          </a:solidFill>
          <a:ln w="12700">
            <a:solidFill>
              <a:srgbClr val="D9D9D9"/>
            </a:solidFill>
            <a:prstDash val="solid"/>
          </a:ln>
          <a:effectLst>
            <a:outerShdw sx="100000" sy="100000" kx="0" ky="0" algn="bl" rotWithShape="0" blurRad="50800" dist="25400" dir="5400000">
              <a:srgbClr val="000000">
                <a:alpha val="12000"/>
              </a:srgbClr>
            </a:outerShdw>
          </a:effectLst>
        </p:spPr>
      </p:sp>
      <p:sp>
        <p:nvSpPr>
          <p:cNvPr id="6" name="Text 4"/>
          <p:cNvSpPr txBox="1"/>
          <p:nvPr/>
        </p:nvSpPr>
        <p:spPr>
          <a:xfrm>
            <a:off x="640080" y="2697480"/>
            <a:ext cx="502920" cy="502920"/>
          </a:xfrm>
          <a:prstGeom prst="ellipse">
            <a:avLst/>
          </a:prstGeom>
          <a:solidFill>
            <a:srgbClr val="77AE26"/>
          </a:solidFill>
          <a:ln>
            <a:solidFill>
              <a:srgbClr val="77AE26"/>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Text 5"/>
          <p:cNvSpPr txBox="1"/>
          <p:nvPr/>
        </p:nvSpPr>
        <p:spPr>
          <a:xfrm>
            <a:off x="1234440" y="2697480"/>
            <a:ext cx="1691640" cy="502920"/>
          </a:xfrm>
          <a:prstGeom prst="rect">
            <a:avLst/>
          </a:prstGeom>
          <a:noFill/>
          <a:ln/>
        </p:spPr>
        <p:txBody>
          <a:bodyPr wrap="square" lIns="0" tIns="0" rIns="0" bIns="0" rtlCol="0" anchor="ctr"/>
          <a:lstStyle/>
          <a:p>
            <a:pPr indent="0" marL="0">
              <a:buNone/>
            </a:pPr>
            <a:r>
              <a:rPr lang="en-US" sz="1600" b="1" dirty="0">
                <a:solidFill>
                  <a:srgbClr val="44546A"/>
                </a:solidFill>
              </a:rPr>
              <a:t>기준 사전 정의</a:t>
            </a:r>
            <a:endParaRPr lang="en-US" sz="1600" dirty="0"/>
          </a:p>
        </p:txBody>
      </p:sp>
      <p:sp>
        <p:nvSpPr>
          <p:cNvPr id="8" name="Text 6"/>
          <p:cNvSpPr txBox="1"/>
          <p:nvPr/>
        </p:nvSpPr>
        <p:spPr>
          <a:xfrm>
            <a:off x="640080" y="3337560"/>
            <a:ext cx="2240280" cy="1554480"/>
          </a:xfrm>
          <a:prstGeom prst="rect">
            <a:avLst/>
          </a:prstGeom>
          <a:noFill/>
          <a:ln/>
        </p:spPr>
        <p:txBody>
          <a:bodyPr wrap="square" lIns="0" tIns="0" rIns="0" bIns="0" rtlCol="0" anchor="t"/>
          <a:lstStyle/>
          <a:p>
            <a:pPr indent="0" marL="0">
              <a:buNone/>
            </a:pPr>
            <a:r>
              <a:rPr lang="en-US" sz="1400" dirty="0">
                <a:solidFill>
                  <a:srgbClr val="262626"/>
                </a:solidFill>
              </a:rPr>
              <a:t>공격 가능성 등급, 심각도 정의, 매트릭스, 허용 기준을 평가 전에 계획서에 정해 둠</a:t>
            </a:r>
            <a:endParaRPr lang="en-US" sz="1400" dirty="0"/>
          </a:p>
        </p:txBody>
      </p:sp>
      <p:sp>
        <p:nvSpPr>
          <p:cNvPr id="9" name="Shape 7"/>
          <p:cNvSpPr/>
          <p:nvPr/>
        </p:nvSpPr>
        <p:spPr>
          <a:xfrm>
            <a:off x="3090672" y="3749040"/>
            <a:ext cx="228600" cy="0"/>
          </a:xfrm>
          <a:prstGeom prst="line">
            <a:avLst/>
          </a:prstGeom>
          <a:noFill/>
          <a:ln w="25400">
            <a:solidFill>
              <a:srgbClr val="B08600"/>
            </a:solidFill>
            <a:prstDash val="solid"/>
            <a:tailEnd type="triangle"/>
          </a:ln>
        </p:spPr>
      </p:sp>
      <p:sp>
        <p:nvSpPr>
          <p:cNvPr id="10" name="Step card 2"/>
          <p:cNvSpPr/>
          <p:nvPr/>
        </p:nvSpPr>
        <p:spPr>
          <a:xfrm>
            <a:off x="3346704" y="2514600"/>
            <a:ext cx="2606040" cy="2468880"/>
          </a:xfrm>
          <a:prstGeom prst="roundRect">
            <a:avLst>
              <a:gd name="adj" fmla="val 4444"/>
            </a:avLst>
          </a:prstGeom>
          <a:solidFill>
            <a:srgbClr val="FFFFFF"/>
          </a:solidFill>
          <a:ln w="12700">
            <a:solidFill>
              <a:srgbClr val="D9D9D9"/>
            </a:solidFill>
            <a:prstDash val="solid"/>
          </a:ln>
          <a:effectLst>
            <a:outerShdw sx="100000" sy="100000" kx="0" ky="0" algn="bl" rotWithShape="0" blurRad="50800" dist="25400" dir="5400000">
              <a:srgbClr val="000000">
                <a:alpha val="12000"/>
              </a:srgbClr>
            </a:outerShdw>
          </a:effectLst>
        </p:spPr>
      </p:sp>
      <p:sp>
        <p:nvSpPr>
          <p:cNvPr id="11" name="Text 9"/>
          <p:cNvSpPr txBox="1"/>
          <p:nvPr/>
        </p:nvSpPr>
        <p:spPr>
          <a:xfrm>
            <a:off x="3529584" y="2697480"/>
            <a:ext cx="502920" cy="502920"/>
          </a:xfrm>
          <a:prstGeom prst="ellipse">
            <a:avLst/>
          </a:prstGeom>
          <a:solidFill>
            <a:srgbClr val="77AE26"/>
          </a:solidFill>
          <a:ln>
            <a:solidFill>
              <a:srgbClr val="77AE26"/>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2" name="Text 10"/>
          <p:cNvSpPr txBox="1"/>
          <p:nvPr/>
        </p:nvSpPr>
        <p:spPr>
          <a:xfrm>
            <a:off x="4123944" y="2697480"/>
            <a:ext cx="1691640" cy="502920"/>
          </a:xfrm>
          <a:prstGeom prst="rect">
            <a:avLst/>
          </a:prstGeom>
          <a:noFill/>
          <a:ln/>
        </p:spPr>
        <p:txBody>
          <a:bodyPr wrap="square" lIns="0" tIns="0" rIns="0" bIns="0" rtlCol="0" anchor="ctr"/>
          <a:lstStyle/>
          <a:p>
            <a:pPr indent="0" marL="0">
              <a:buNone/>
            </a:pPr>
            <a:r>
              <a:rPr lang="en-US" sz="1600" b="1" dirty="0">
                <a:solidFill>
                  <a:srgbClr val="44546A"/>
                </a:solidFill>
              </a:rPr>
              <a:t>최악 결과 가정</a:t>
            </a:r>
            <a:endParaRPr lang="en-US" sz="1600" dirty="0"/>
          </a:p>
        </p:txBody>
      </p:sp>
      <p:sp>
        <p:nvSpPr>
          <p:cNvPr id="13" name="Text 11"/>
          <p:cNvSpPr txBox="1"/>
          <p:nvPr/>
        </p:nvSpPr>
        <p:spPr>
          <a:xfrm>
            <a:off x="3529584" y="3337560"/>
            <a:ext cx="2240280" cy="1554480"/>
          </a:xfrm>
          <a:prstGeom prst="rect">
            <a:avLst/>
          </a:prstGeom>
          <a:noFill/>
          <a:ln/>
        </p:spPr>
        <p:txBody>
          <a:bodyPr wrap="square" lIns="0" tIns="0" rIns="0" bIns="0" rtlCol="0" anchor="t"/>
          <a:lstStyle/>
          <a:p>
            <a:pPr indent="0" marL="0">
              <a:buNone/>
            </a:pPr>
            <a:r>
              <a:rPr lang="en-US" sz="1400" dirty="0">
                <a:solidFill>
                  <a:srgbClr val="262626"/>
                </a:solidFill>
              </a:rPr>
              <a:t>공격이 성공한다고 보고, 합리적으로 예견 가능한 최악의 임상 결과와 가정을 기록함</a:t>
            </a:r>
            <a:endParaRPr lang="en-US" sz="1400" dirty="0"/>
          </a:p>
        </p:txBody>
      </p:sp>
      <p:sp>
        <p:nvSpPr>
          <p:cNvPr id="14" name="Shape 12"/>
          <p:cNvSpPr/>
          <p:nvPr/>
        </p:nvSpPr>
        <p:spPr>
          <a:xfrm>
            <a:off x="5980176" y="3749040"/>
            <a:ext cx="228600" cy="0"/>
          </a:xfrm>
          <a:prstGeom prst="line">
            <a:avLst/>
          </a:prstGeom>
          <a:noFill/>
          <a:ln w="25400">
            <a:solidFill>
              <a:srgbClr val="B08600"/>
            </a:solidFill>
            <a:prstDash val="solid"/>
            <a:tailEnd type="triangle"/>
          </a:ln>
        </p:spPr>
      </p:sp>
      <p:sp>
        <p:nvSpPr>
          <p:cNvPr id="15" name="Step card 3"/>
          <p:cNvSpPr/>
          <p:nvPr/>
        </p:nvSpPr>
        <p:spPr>
          <a:xfrm>
            <a:off x="6236208" y="2514600"/>
            <a:ext cx="2606040" cy="2468880"/>
          </a:xfrm>
          <a:prstGeom prst="roundRect">
            <a:avLst>
              <a:gd name="adj" fmla="val 4444"/>
            </a:avLst>
          </a:prstGeom>
          <a:solidFill>
            <a:srgbClr val="FFFFFF"/>
          </a:solidFill>
          <a:ln w="12700">
            <a:solidFill>
              <a:srgbClr val="D9D9D9"/>
            </a:solidFill>
            <a:prstDash val="solid"/>
          </a:ln>
          <a:effectLst>
            <a:outerShdw sx="100000" sy="100000" kx="0" ky="0" algn="bl" rotWithShape="0" blurRad="50800" dist="25400" dir="5400000">
              <a:srgbClr val="000000">
                <a:alpha val="12000"/>
              </a:srgbClr>
            </a:outerShdw>
          </a:effectLst>
        </p:spPr>
      </p:sp>
      <p:sp>
        <p:nvSpPr>
          <p:cNvPr id="16" name="Text 14"/>
          <p:cNvSpPr txBox="1"/>
          <p:nvPr/>
        </p:nvSpPr>
        <p:spPr>
          <a:xfrm>
            <a:off x="6419088" y="2697480"/>
            <a:ext cx="502920" cy="502920"/>
          </a:xfrm>
          <a:prstGeom prst="ellipse">
            <a:avLst/>
          </a:prstGeom>
          <a:solidFill>
            <a:srgbClr val="77AE26"/>
          </a:solidFill>
          <a:ln>
            <a:solidFill>
              <a:srgbClr val="77AE26"/>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7" name="Text 15"/>
          <p:cNvSpPr txBox="1"/>
          <p:nvPr/>
        </p:nvSpPr>
        <p:spPr>
          <a:xfrm>
            <a:off x="7013448" y="2697480"/>
            <a:ext cx="1691640" cy="502920"/>
          </a:xfrm>
          <a:prstGeom prst="rect">
            <a:avLst/>
          </a:prstGeom>
          <a:noFill/>
          <a:ln/>
        </p:spPr>
        <p:txBody>
          <a:bodyPr wrap="square" lIns="0" tIns="0" rIns="0" bIns="0" rtlCol="0" anchor="ctr"/>
          <a:lstStyle/>
          <a:p>
            <a:pPr indent="0" marL="0">
              <a:buNone/>
            </a:pPr>
            <a:r>
              <a:rPr lang="en-US" sz="1600" b="1" dirty="0">
                <a:solidFill>
                  <a:srgbClr val="44546A"/>
                </a:solidFill>
              </a:rPr>
              <a:t>통제 효과 검증</a:t>
            </a:r>
            <a:endParaRPr lang="en-US" sz="1600" dirty="0"/>
          </a:p>
        </p:txBody>
      </p:sp>
      <p:sp>
        <p:nvSpPr>
          <p:cNvPr id="18" name="Text 16"/>
          <p:cNvSpPr txBox="1"/>
          <p:nvPr/>
        </p:nvSpPr>
        <p:spPr>
          <a:xfrm>
            <a:off x="6419088" y="3337560"/>
            <a:ext cx="2240280" cy="1554480"/>
          </a:xfrm>
          <a:prstGeom prst="rect">
            <a:avLst/>
          </a:prstGeom>
          <a:noFill/>
          <a:ln/>
        </p:spPr>
        <p:txBody>
          <a:bodyPr wrap="square" lIns="0" tIns="0" rIns="0" bIns="0" rtlCol="0" anchor="t"/>
          <a:lstStyle/>
          <a:p>
            <a:pPr indent="0" marL="0">
              <a:buNone/>
            </a:pPr>
            <a:r>
              <a:rPr lang="en-US" sz="1400" dirty="0">
                <a:solidFill>
                  <a:srgbClr val="262626"/>
                </a:solidFill>
              </a:rPr>
              <a:t>요구사항 시험·설계 검토·취약점 분석·침투 시험(penetration testing)으로 확인하고 범위·한계를 명시함</a:t>
            </a:r>
            <a:endParaRPr lang="en-US" sz="1400" dirty="0"/>
          </a:p>
        </p:txBody>
      </p:sp>
      <p:sp>
        <p:nvSpPr>
          <p:cNvPr id="19" name="Shape 17"/>
          <p:cNvSpPr/>
          <p:nvPr/>
        </p:nvSpPr>
        <p:spPr>
          <a:xfrm>
            <a:off x="8869680" y="3749040"/>
            <a:ext cx="228600" cy="0"/>
          </a:xfrm>
          <a:prstGeom prst="line">
            <a:avLst/>
          </a:prstGeom>
          <a:noFill/>
          <a:ln w="25400">
            <a:solidFill>
              <a:srgbClr val="B08600"/>
            </a:solidFill>
            <a:prstDash val="solid"/>
            <a:tailEnd type="triangle"/>
          </a:ln>
        </p:spPr>
      </p:sp>
      <p:sp>
        <p:nvSpPr>
          <p:cNvPr id="20" name="Step card 4"/>
          <p:cNvSpPr/>
          <p:nvPr/>
        </p:nvSpPr>
        <p:spPr>
          <a:xfrm>
            <a:off x="9125712" y="2514600"/>
            <a:ext cx="2606040" cy="2468880"/>
          </a:xfrm>
          <a:prstGeom prst="roundRect">
            <a:avLst>
              <a:gd name="adj" fmla="val 4444"/>
            </a:avLst>
          </a:prstGeom>
          <a:solidFill>
            <a:srgbClr val="FFFFFF"/>
          </a:solidFill>
          <a:ln w="12700">
            <a:solidFill>
              <a:srgbClr val="D9D9D9"/>
            </a:solidFill>
            <a:prstDash val="solid"/>
          </a:ln>
          <a:effectLst>
            <a:outerShdw sx="100000" sy="100000" kx="0" ky="0" algn="bl" rotWithShape="0" blurRad="50800" dist="25400" dir="5400000">
              <a:srgbClr val="000000">
                <a:alpha val="12000"/>
              </a:srgbClr>
            </a:outerShdw>
          </a:effectLst>
        </p:spPr>
      </p:sp>
      <p:sp>
        <p:nvSpPr>
          <p:cNvPr id="21" name="Text 19"/>
          <p:cNvSpPr txBox="1"/>
          <p:nvPr/>
        </p:nvSpPr>
        <p:spPr>
          <a:xfrm>
            <a:off x="9308592" y="2697480"/>
            <a:ext cx="502920" cy="502920"/>
          </a:xfrm>
          <a:prstGeom prst="ellipse">
            <a:avLst/>
          </a:prstGeom>
          <a:solidFill>
            <a:srgbClr val="77AE26"/>
          </a:solidFill>
          <a:ln>
            <a:solidFill>
              <a:srgbClr val="77AE26"/>
            </a:solid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2" name="Text 20"/>
          <p:cNvSpPr txBox="1"/>
          <p:nvPr/>
        </p:nvSpPr>
        <p:spPr>
          <a:xfrm>
            <a:off x="9902952" y="2697480"/>
            <a:ext cx="1691640" cy="502920"/>
          </a:xfrm>
          <a:prstGeom prst="rect">
            <a:avLst/>
          </a:prstGeom>
          <a:noFill/>
          <a:ln/>
        </p:spPr>
        <p:txBody>
          <a:bodyPr wrap="square" lIns="0" tIns="0" rIns="0" bIns="0" rtlCol="0" anchor="ctr"/>
          <a:lstStyle/>
          <a:p>
            <a:pPr indent="0" marL="0">
              <a:buNone/>
            </a:pPr>
            <a:r>
              <a:rPr lang="en-US" sz="1600" b="1" dirty="0">
                <a:solidFill>
                  <a:srgbClr val="44546A"/>
                </a:solidFill>
              </a:rPr>
              <a:t>시판 후 감시</a:t>
            </a:r>
            <a:endParaRPr lang="en-US" sz="1600" dirty="0"/>
          </a:p>
        </p:txBody>
      </p:sp>
      <p:sp>
        <p:nvSpPr>
          <p:cNvPr id="23" name="Text 21"/>
          <p:cNvSpPr txBox="1"/>
          <p:nvPr/>
        </p:nvSpPr>
        <p:spPr>
          <a:xfrm>
            <a:off x="9308592" y="3337560"/>
            <a:ext cx="2240280" cy="1554480"/>
          </a:xfrm>
          <a:prstGeom prst="rect">
            <a:avLst/>
          </a:prstGeom>
          <a:noFill/>
          <a:ln/>
        </p:spPr>
        <p:txBody>
          <a:bodyPr wrap="square" lIns="0" tIns="0" rIns="0" bIns="0" rtlCol="0" anchor="t"/>
          <a:lstStyle/>
          <a:p>
            <a:pPr indent="0" marL="0">
              <a:buNone/>
            </a:pPr>
            <a:r>
              <a:rPr lang="en-US" sz="1400" dirty="0">
                <a:solidFill>
                  <a:srgbClr val="262626"/>
                </a:solidFill>
              </a:rPr>
              <a:t>SBOM(소프트웨어 자재 명세서)을 바탕으로 취약점을 모니터링하고 패치 계획에 따라 재평가함</a:t>
            </a:r>
            <a:endParaRPr lang="en-US" sz="1400" dirty="0"/>
          </a:p>
        </p:txBody>
      </p:sp>
      <p:sp>
        <p:nvSpPr>
          <p:cNvPr id="24" name="Conclusion"/>
          <p:cNvSpPr txBox="1"/>
          <p:nvPr/>
        </p:nvSpPr>
        <p:spPr>
          <a:xfrm>
            <a:off x="457200" y="5166360"/>
            <a:ext cx="11274552" cy="960120"/>
          </a:xfrm>
          <a:prstGeom prst="roundRect">
            <a:avLst>
              <a:gd name="adj" fmla="val 11429"/>
            </a:avLst>
          </a:prstGeom>
          <a:solidFill>
            <a:srgbClr val="FFFFFF"/>
          </a:solidFill>
          <a:ln w="19050">
            <a:solidFill>
              <a:srgbClr val="44546A"/>
            </a:solidFill>
          </a:ln>
        </p:spPr>
        <p:txBody>
          <a:bodyPr wrap="square" lIns="50800" tIns="177800" rIns="177800" bIns="50800" rtlCol="0" anchor="ctr"/>
          <a:lstStyle/>
          <a:p>
            <a:pPr indent="0" marL="0">
              <a:buNone/>
            </a:pPr>
            <a:r>
              <a:rPr lang="en-US" sz="1400" b="1" dirty="0">
                <a:solidFill>
                  <a:srgbClr val="B08600"/>
                </a:solidFill>
              </a:rPr>
              <a:t>결론  </a:t>
            </a:r>
            <a:pPr indent="0" marL="0">
              <a:buNone/>
            </a:pPr>
            <a:r>
              <a:rPr lang="en-US" sz="1400" dirty="0">
                <a:solidFill>
                  <a:srgbClr val="262626"/>
                </a:solidFill>
              </a:rPr>
              <a:t>기준을 넘으면 추가 통제를 적용한다. 추가 통제가 실행 가능하지 않은 개별 잔여 위험은 이익이 위험을 상회하는지 이익-위험 분석(benefit-risk analysis, ISO 14971:2019 7.4항)으로 판단하고, 입증하지 못하면 허용 불가로 판단한다. 전체 잔여 위험은 8항에 따라 평가한다.</a:t>
            </a:r>
            <a:endParaRPr lang="en-US" sz="1400" dirty="0"/>
          </a:p>
        </p:txBody>
      </p:sp>
      <p:sp>
        <p:nvSpPr>
          <p:cNvPr id="25" name="Slide Number Placeholder 0"/>
          <p:cNvSpPr>
            <a:spLocks noGrp="1"/>
          </p:cNvSpPr>
          <p:nvPr>
            <p:ph type="sldNum" sz="quarter" idx="4294967295"/>
          </p:nvPr>
        </p:nvSpPr>
        <p:spPr>
          <a:xfrm>
            <a:off x="1133856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F7F7F"/>
                </a:solidFill>
                <a:latin typeface="Malgun Gothic"/>
                <a:ea typeface="Malgun Gothic"/>
                <a:cs typeface="Malgun Gothic"/>
              </a:defRPr>
            </a:lvl1pPr>
          </a:lstStyle>
          <a:p>
            <a:pPr algn="l"/>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SaMD Edu">
  <a:themeElements>
    <a:clrScheme name="SaMD Edu">
      <a:dk1>
        <a:srgbClr val="262626"/>
      </a:dk1>
      <a:lt1>
        <a:srgbClr val="FFFFFF"/>
      </a:lt1>
      <a:dk2>
        <a:srgbClr val="44546A"/>
      </a:dk2>
      <a:lt2>
        <a:srgbClr val="E5F4CE"/>
      </a:lt2>
      <a:accent1>
        <a:srgbClr val="77AE26"/>
      </a:accent1>
      <a:accent2>
        <a:srgbClr val="B08600"/>
      </a:accent2>
      <a:accent3>
        <a:srgbClr val="44546A"/>
      </a:accent3>
      <a:accent4>
        <a:srgbClr val="C00000"/>
      </a:accent4>
      <a:accent5>
        <a:srgbClr val="FFE699"/>
      </a:accent5>
      <a:accent6>
        <a:srgbClr val="F4C7C3"/>
      </a:accent6>
      <a:hlink>
        <a:srgbClr val="44546A"/>
      </a:hlink>
      <a:folHlink>
        <a:srgbClr val="7F7F7F"/>
      </a:folHlink>
    </a:clrScheme>
    <a:fontScheme name="SaMD Edu">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사이버보안 위험관리 (Security Risk Management)</dc:title>
  <dc:subject>PptxGenJS Presentation</dc:subject>
  <dc:creator>PptxGenJS</dc:creator>
  <cp:lastModifiedBy>PptxGenJS</cp:lastModifiedBy>
  <cp:revision>1</cp:revision>
  <dcterms:created xsi:type="dcterms:W3CDTF">2026-10-27T16:55:39Z</dcterms:created>
  <dcterms:modified xsi:type="dcterms:W3CDTF">2026-10-27T16:55:39Z</dcterms:modified>
</cp:coreProperties>
</file>